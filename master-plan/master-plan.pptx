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fa1ebf-9692-b682-1700-f5ffaa206ddc}">
          <p14:sldIdLst>
            <p14:sldId id="256"/>
            <p14:sldId id="257"/>
          </p14:sldIdLst>
        </p14:section>
        <p14:section name="Where we are" id="{c2bb17c1-8cc5-4c24-17a4-0e747b6c5995}">
          <p14:sldIdLst>
            <p14:sldId id="258"/>
            <p14:sldId id="259"/>
          </p14:sldIdLst>
        </p14:section>
        <p14:section name="The plan" id="{6dd9fd7c-22b7-b160-a4a2-0cc75c8357bf}">
          <p14:sldIdLst>
            <p14:sldId id="260"/>
            <p14:sldId id="261"/>
            <p14:sldId id="262"/>
            <p14:sldId id="263"/>
            <p14:sldId id="264"/>
          </p14:sldIdLst>
        </p14:section>
        <p14:section name="The road ahead" id="{d7510521-3842-c7a7-7bf9-2a12582e7706}">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the time. This is not a pitch of finished answers. It is a working session to agree the direction, so that the next step is a concrete, costed plan. Everything here is a starting point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outcomes for today: align on the ambition, prioritise the pillars, and commit to the next step. If we leave with those three agreed, the session has done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credit where it is due: the name, the craft, the grab and go launch and the modernisation already underway are real momentum. The right-hand column is a set of hypotheses, not verdicts. We want to test them with you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ambition we want to test with you. Pause on it. Is this the scale you want: regional, community minded, built to outlast the founders? If the words are wrong, this is the moment to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one direction. Fix and modernise Al Shami first, create new concepts, build toward a hospitality group, and put continuity and legacy underneath it all. The order matters, and that sequencing is one of the decisions we want from you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one is the foundation and the first priority. Everything else borrows credibility from a modern, consistent Al Shami. Grab and go is the proof point we scale from, with CSR built in from the start, not added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two uses what Al Shami already has: sourcing, roasting, a trusted name and loyal customers. New concepts are tested as pilots with clear stage gates, so we scale what works and stop what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three is the long game: hospitality venues that express the Al Shami welcome at a larger scale. It is capital intensive, so it moves in phases with investment gates, and it depends on the people and systems built in pillars one and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four is what makes the other three last. Governance, succession and shared systems turn a family business into an institution. It runs alongside the others from day one rather than waiting until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 phase one today. Phase two is the ask: a short planning sprint that turns each pillar into a concrete, costed plan with owners and KPIs. Execution starts with quick wins on Al Shami itself before any new concept is piloted.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and none of them need a number attached yet. Confirm the ambition and the pillars, agree the order, name the people, share the data, and lock the workshop dates. With those agreed, we can start the planning phase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ambition is yours; the plan is ours to build together. The next step is a date for the first planning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161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0E6"/>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ND">
    <p:bg>
      <p:bgPr>
        <a:solidFill>
          <a:srgbClr val="EDE3D3"/>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
    <p:bg>
      <p:bgPr>
        <a:solidFill>
          <a:srgbClr val="1F161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image" Target="../media/image-5-2.png"/><Relationship Id="rId5" Type="http://schemas.openxmlformats.org/officeDocument/2006/relationships/image" Target="../media/image-5-5.jpg"/><Relationship Id="rId6" Type="http://schemas.openxmlformats.org/officeDocument/2006/relationships/image" Target="../media/image-5-2.png"/><Relationship Id="rId7" Type="http://schemas.openxmlformats.org/officeDocument/2006/relationships/image" Target="../media/image-5-7.jpg"/><Relationship Id="rId8" Type="http://schemas.openxmlformats.org/officeDocument/2006/relationships/image" Target="../media/image-5-2.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01-cover" descr="Roasted beans tumbling from a drum roaster">    </p:cNvPr>
          <p:cNvPicPr>
            <a:picLocks noChangeAspect="1"/>
          </p:cNvPicPr>
          <p:nvPr/>
        </p:nvPicPr>
        <p:blipFill>
          <a:blip r:embed="rId1"/>
          <a:srcRect l="0" r="0" t="0" b="0"/>
          <a:stretch/>
        </p:blipFill>
        <p:spPr>
          <a:xfrm>
            <a:off x="5852160" y="0"/>
            <a:ext cx="6339535" cy="6858000"/>
          </a:xfrm>
          <a:prstGeom prst="rect">
            <a:avLst/>
          </a:prstGeom>
        </p:spPr>
      </p:pic>
      <p:pic>
        <p:nvPicPr>
          <p:cNvPr id="3" name="Scrim scrim_left_fade" descr="Gradient scrim">    </p:cNvPr>
          <p:cNvPicPr>
            <a:picLocks noChangeAspect="1"/>
          </p:cNvPicPr>
          <p:nvPr/>
        </p:nvPicPr>
        <p:blipFill>
          <a:blip r:embed="rId2"/>
          <a:stretch>
            <a:fillRect/>
          </a:stretch>
        </p:blipFill>
        <p:spPr>
          <a:xfrm>
            <a:off x="5852160" y="0"/>
            <a:ext cx="3291840" cy="6858000"/>
          </a:xfrm>
          <a:prstGeom prst="rect">
            <a:avLst/>
          </a:prstGeom>
        </p:spPr>
      </p:pic>
      <p:pic>
        <p:nvPicPr>
          <p:cNvPr id="4" name="Scrim scrim_bottom_soft" descr="Gradient scrim">    </p:cNvPr>
          <p:cNvPicPr>
            <a:picLocks noChangeAspect="1"/>
          </p:cNvPicPr>
          <p:nvPr/>
        </p:nvPicPr>
        <p:blipFill>
          <a:blip r:embed="rId3"/>
          <a:stretch>
            <a:fillRect/>
          </a:stretch>
        </p:blipFill>
        <p:spPr>
          <a:xfrm>
            <a:off x="5852160" y="0"/>
            <a:ext cx="6339535" cy="6858000"/>
          </a:xfrm>
          <a:prstGeom prst="rect">
            <a:avLst/>
          </a:prstGeom>
        </p:spPr>
      </p:pic>
      <p:sp>
        <p:nvSpPr>
          <p:cNvPr id="5" name="Photo slot label 01-cover"/>
          <p:cNvSpPr txBox="1"/>
          <p:nvPr/>
        </p:nvSpPr>
        <p:spPr>
          <a:xfrm>
            <a:off x="6080760" y="274320"/>
            <a:ext cx="5882335"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01-COVER : ROASTED BEANS TUMBLING FROM A DRUM ROASTER</a:t>
            </a:r>
            <a:endParaRPr lang="en-US" sz="900" dirty="0"/>
          </a:p>
        </p:txBody>
      </p:sp>
      <p:sp>
        <p:nvSpPr>
          <p:cNvPr id="6" name="Eyebrow: Strategy alignment · Al Shami"/>
          <p:cNvSpPr txBox="1"/>
          <p:nvPr/>
        </p:nvSpPr>
        <p:spPr>
          <a:xfrm>
            <a:off x="822960" y="1965960"/>
            <a:ext cx="5943600"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STRATEGY ALIGNMENT · AL SHAMI</a:t>
            </a:r>
            <a:endParaRPr lang="en-US" sz="1200" dirty="0"/>
          </a:p>
        </p:txBody>
      </p:sp>
      <p:sp>
        <p:nvSpPr>
          <p:cNvPr id="7" name="Cover title"/>
          <p:cNvSpPr txBox="1"/>
          <p:nvPr/>
        </p:nvSpPr>
        <p:spPr>
          <a:xfrm>
            <a:off x="822960" y="2286000"/>
            <a:ext cx="6949440" cy="1280160"/>
          </a:xfrm>
          <a:prstGeom prst="rect">
            <a:avLst/>
          </a:prstGeom>
          <a:noFill/>
          <a:ln/>
        </p:spPr>
        <p:txBody>
          <a:bodyPr wrap="square" lIns="0" tIns="0" rIns="0" bIns="0" rtlCol="0" anchor="t"/>
          <a:lstStyle/>
          <a:p>
            <a:pPr indent="0" marL="0">
              <a:buNone/>
            </a:pPr>
            <a:r>
              <a:rPr lang="en-US" sz="8000" dirty="0">
                <a:solidFill>
                  <a:schemeClr val="bg1"/>
                </a:solidFill>
                <a:latin typeface="+mj-lt" pitchFamily="34" charset="0"/>
                <a:ea typeface="+mj-lt" pitchFamily="34" charset="-122"/>
                <a:cs typeface="+mj-lt" pitchFamily="34" charset="-120"/>
              </a:rPr>
              <a:t>The Master Plan</a:t>
            </a:r>
            <a:endParaRPr lang="en-US" sz="8000" dirty="0"/>
          </a:p>
        </p:txBody>
      </p:sp>
      <p:sp>
        <p:nvSpPr>
          <p:cNvPr id="8" name="Cover subtitle"/>
          <p:cNvSpPr txBox="1"/>
          <p:nvPr/>
        </p:nvSpPr>
        <p:spPr>
          <a:xfrm>
            <a:off x="822960" y="3703320"/>
            <a:ext cx="5394960" cy="1005840"/>
          </a:xfrm>
          <a:prstGeom prst="rect">
            <a:avLst/>
          </a:prstGeom>
          <a:noFill/>
          <a:ln/>
        </p:spPr>
        <p:txBody>
          <a:bodyPr wrap="square" lIns="0" tIns="0" rIns="0" bIns="0" rtlCol="0" anchor="t"/>
          <a:lstStyle/>
          <a:p>
            <a:pPr indent="0" marL="0">
              <a:lnSpc>
                <a:spcPct val="120000"/>
              </a:lnSpc>
              <a:buNone/>
            </a:pPr>
            <a:r>
              <a:rPr lang="en-US" sz="2000" dirty="0">
                <a:solidFill>
                  <a:schemeClr val="accent4"/>
                </a:solidFill>
                <a:latin typeface="+mn-lt" pitchFamily="34" charset="0"/>
                <a:ea typeface="+mn-lt" pitchFamily="34" charset="-122"/>
                <a:cs typeface="+mn-lt" pitchFamily="34" charset="-120"/>
              </a:rPr>
              <a:t>From heritage roaster to the Middle East’s proud coffee and hospitality house</a:t>
            </a:r>
            <a:endParaRPr lang="en-US" sz="2000" dirty="0"/>
          </a:p>
        </p:txBody>
      </p:sp>
      <p:sp>
        <p:nvSpPr>
          <p:cNvPr id="9" name="Cover meta"/>
          <p:cNvSpPr txBox="1"/>
          <p:nvPr/>
        </p:nvSpPr>
        <p:spPr>
          <a:xfrm>
            <a:off x="822960" y="6035040"/>
            <a:ext cx="5029200" cy="274320"/>
          </a:xfrm>
          <a:prstGeom prst="rect">
            <a:avLst/>
          </a:prstGeom>
          <a:noFill/>
          <a:ln/>
        </p:spPr>
        <p:txBody>
          <a:bodyPr wrap="square" lIns="0" tIns="0" rIns="0" bIns="0" rtlCol="0" anchor="t"/>
          <a:lstStyle/>
          <a:p>
            <a:pPr indent="0" marL="0">
              <a:buNone/>
            </a:pPr>
            <a:r>
              <a:rPr lang="en-US" sz="1200" spc="150" kern="0" dirty="0">
                <a:solidFill>
                  <a:schemeClr val="accent4"/>
                </a:solidFill>
                <a:latin typeface="+mn-lt" pitchFamily="34" charset="0"/>
                <a:ea typeface="+mn-lt" pitchFamily="34" charset="-122"/>
                <a:cs typeface="+mn-lt" pitchFamily="34" charset="-120"/>
              </a:rPr>
              <a:t>[Consultant name] · [Month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Why we’re here"/>
          <p:cNvSpPr txBox="1"/>
          <p:nvPr/>
        </p:nvSpPr>
        <p:spPr>
          <a:xfrm>
            <a:off x="822960" y="777240"/>
            <a:ext cx="10545775"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WHY WE’RE HERE</a:t>
            </a:r>
            <a:endParaRPr lang="en-US" sz="1200" dirty="0"/>
          </a:p>
        </p:txBody>
      </p:sp>
      <p:sp>
        <p:nvSpPr>
          <p:cNvPr id="3" name="Title"/>
          <p:cNvSpPr txBox="1"/>
          <p:nvPr/>
        </p:nvSpPr>
        <p:spPr>
          <a:xfrm>
            <a:off x="822960" y="1051560"/>
            <a:ext cx="10545775" cy="731520"/>
          </a:xfrm>
          <a:prstGeom prst="rect">
            <a:avLst/>
          </a:prstGeom>
          <a:noFill/>
          <a:ln/>
        </p:spPr>
        <p:txBody>
          <a:bodyPr wrap="square" lIns="0" tIns="0" rIns="0" bIns="0" rtlCol="0" anchor="t"/>
          <a:lstStyle/>
          <a:p>
            <a:pPr indent="0" marL="0">
              <a:buNone/>
            </a:pPr>
            <a:r>
              <a:rPr lang="en-US" sz="4000" dirty="0">
                <a:solidFill>
                  <a:schemeClr val="tx1"/>
                </a:solidFill>
                <a:latin typeface="+mj-lt" pitchFamily="34" charset="0"/>
                <a:ea typeface="+mj-lt" pitchFamily="34" charset="-122"/>
                <a:cs typeface="+mj-lt" pitchFamily="34" charset="-120"/>
              </a:rPr>
              <a:t>Alignment first, then a concrete plan</a:t>
            </a:r>
            <a:endParaRPr lang="en-US" sz="4000" dirty="0"/>
          </a:p>
        </p:txBody>
      </p:sp>
      <p:sp>
        <p:nvSpPr>
          <p:cNvPr id="4" name="Card 01"/>
          <p:cNvSpPr/>
          <p:nvPr/>
        </p:nvSpPr>
        <p:spPr>
          <a:xfrm>
            <a:off x="822960" y="2286000"/>
            <a:ext cx="3271418" cy="3291840"/>
          </a:xfrm>
          <a:prstGeom prst="rect">
            <a:avLst/>
          </a:prstGeom>
          <a:solidFill>
            <a:schemeClr val="bg2"/>
          </a:solidFill>
          <a:ln w="12700">
            <a:solidFill>
              <a:schemeClr val="bg2"/>
            </a:solidFill>
            <a:prstDash val="solid"/>
          </a:ln>
        </p:spPr>
      </p:sp>
      <p:sp>
        <p:nvSpPr>
          <p:cNvPr id="5" name="Card number 01"/>
          <p:cNvSpPr txBox="1"/>
          <p:nvPr/>
        </p:nvSpPr>
        <p:spPr>
          <a:xfrm>
            <a:off x="1234440" y="2697480"/>
            <a:ext cx="2448458" cy="640080"/>
          </a:xfrm>
          <a:prstGeom prst="rect">
            <a:avLst/>
          </a:prstGeom>
          <a:noFill/>
          <a:ln/>
        </p:spPr>
        <p:txBody>
          <a:bodyPr wrap="square" lIns="0" tIns="0" rIns="0" bIns="0" rtlCol="0" anchor="t"/>
          <a:lstStyle/>
          <a:p>
            <a:pPr indent="0" marL="0">
              <a:buNone/>
            </a:pPr>
            <a:r>
              <a:rPr lang="en-US" sz="4000" dirty="0">
                <a:solidFill>
                  <a:schemeClr val="accent2"/>
                </a:solidFill>
                <a:latin typeface="+mj-lt" pitchFamily="34" charset="0"/>
                <a:ea typeface="+mj-lt" pitchFamily="34" charset="-122"/>
                <a:cs typeface="+mj-lt" pitchFamily="34" charset="-120"/>
              </a:rPr>
              <a:t>01</a:t>
            </a:r>
            <a:endParaRPr lang="en-US" sz="4000" dirty="0"/>
          </a:p>
        </p:txBody>
      </p:sp>
      <p:sp>
        <p:nvSpPr>
          <p:cNvPr id="6" name="Card title Align"/>
          <p:cNvSpPr txBox="1"/>
          <p:nvPr/>
        </p:nvSpPr>
        <p:spPr>
          <a:xfrm>
            <a:off x="1234440" y="3611880"/>
            <a:ext cx="2448458" cy="4572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Align</a:t>
            </a:r>
            <a:endParaRPr lang="en-US" sz="2200" dirty="0"/>
          </a:p>
        </p:txBody>
      </p:sp>
      <p:sp>
        <p:nvSpPr>
          <p:cNvPr id="7" name="Card body Align"/>
          <p:cNvSpPr txBox="1"/>
          <p:nvPr/>
        </p:nvSpPr>
        <p:spPr>
          <a:xfrm>
            <a:off x="1234440" y="4114800"/>
            <a:ext cx="2448458" cy="1097280"/>
          </a:xfrm>
          <a:prstGeom prst="rect">
            <a:avLst/>
          </a:prstGeom>
          <a:noFill/>
          <a:ln/>
        </p:spPr>
        <p:txBody>
          <a:bodyPr wrap="square" lIns="0" tIns="0" rIns="0" bIns="0" rtlCol="0" anchor="t"/>
          <a:lstStyle/>
          <a:p>
            <a:pPr indent="0" marL="0">
              <a:lnSpc>
                <a:spcPct val="125000"/>
              </a:lnSpc>
              <a:buNone/>
            </a:pPr>
            <a:r>
              <a:rPr lang="en-US" sz="1500" dirty="0">
                <a:solidFill>
                  <a:schemeClr val="accent3"/>
                </a:solidFill>
                <a:latin typeface="+mn-lt" pitchFamily="34" charset="0"/>
                <a:ea typeface="+mn-lt" pitchFamily="34" charset="-122"/>
                <a:cs typeface="+mn-lt" pitchFamily="34" charset="-120"/>
              </a:rPr>
              <a:t>Agree the vision and the ambition for Al Shami and the wider group.</a:t>
            </a:r>
            <a:endParaRPr lang="en-US" sz="1500" dirty="0"/>
          </a:p>
        </p:txBody>
      </p:sp>
      <p:sp>
        <p:nvSpPr>
          <p:cNvPr id="8" name="Card 02"/>
          <p:cNvSpPr/>
          <p:nvPr/>
        </p:nvSpPr>
        <p:spPr>
          <a:xfrm>
            <a:off x="4460138" y="2286000"/>
            <a:ext cx="3271418" cy="3291840"/>
          </a:xfrm>
          <a:prstGeom prst="rect">
            <a:avLst/>
          </a:prstGeom>
          <a:solidFill>
            <a:schemeClr val="bg2"/>
          </a:solidFill>
          <a:ln w="12700">
            <a:solidFill>
              <a:schemeClr val="bg2"/>
            </a:solidFill>
            <a:prstDash val="solid"/>
          </a:ln>
        </p:spPr>
      </p:sp>
      <p:sp>
        <p:nvSpPr>
          <p:cNvPr id="9" name="Card number 02"/>
          <p:cNvSpPr txBox="1"/>
          <p:nvPr/>
        </p:nvSpPr>
        <p:spPr>
          <a:xfrm>
            <a:off x="4871618" y="2697480"/>
            <a:ext cx="2448458" cy="640080"/>
          </a:xfrm>
          <a:prstGeom prst="rect">
            <a:avLst/>
          </a:prstGeom>
          <a:noFill/>
          <a:ln/>
        </p:spPr>
        <p:txBody>
          <a:bodyPr wrap="square" lIns="0" tIns="0" rIns="0" bIns="0" rtlCol="0" anchor="t"/>
          <a:lstStyle/>
          <a:p>
            <a:pPr indent="0" marL="0">
              <a:buNone/>
            </a:pPr>
            <a:r>
              <a:rPr lang="en-US" sz="4000" dirty="0">
                <a:solidFill>
                  <a:schemeClr val="accent2"/>
                </a:solidFill>
                <a:latin typeface="+mj-lt" pitchFamily="34" charset="0"/>
                <a:ea typeface="+mj-lt" pitchFamily="34" charset="-122"/>
                <a:cs typeface="+mj-lt" pitchFamily="34" charset="-120"/>
              </a:rPr>
              <a:t>02</a:t>
            </a:r>
            <a:endParaRPr lang="en-US" sz="4000" dirty="0"/>
          </a:p>
        </p:txBody>
      </p:sp>
      <p:sp>
        <p:nvSpPr>
          <p:cNvPr id="10" name="Card title Prioritise"/>
          <p:cNvSpPr txBox="1"/>
          <p:nvPr/>
        </p:nvSpPr>
        <p:spPr>
          <a:xfrm>
            <a:off x="4871618" y="3611880"/>
            <a:ext cx="2448458" cy="4572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Prioritise</a:t>
            </a:r>
            <a:endParaRPr lang="en-US" sz="2200" dirty="0"/>
          </a:p>
        </p:txBody>
      </p:sp>
      <p:sp>
        <p:nvSpPr>
          <p:cNvPr id="11" name="Card body Prioritise"/>
          <p:cNvSpPr txBox="1"/>
          <p:nvPr/>
        </p:nvSpPr>
        <p:spPr>
          <a:xfrm>
            <a:off x="4871618" y="4114800"/>
            <a:ext cx="2448458" cy="1097280"/>
          </a:xfrm>
          <a:prstGeom prst="rect">
            <a:avLst/>
          </a:prstGeom>
          <a:noFill/>
          <a:ln/>
        </p:spPr>
        <p:txBody>
          <a:bodyPr wrap="square" lIns="0" tIns="0" rIns="0" bIns="0" rtlCol="0" anchor="t"/>
          <a:lstStyle/>
          <a:p>
            <a:pPr indent="0" marL="0">
              <a:lnSpc>
                <a:spcPct val="125000"/>
              </a:lnSpc>
              <a:buNone/>
            </a:pPr>
            <a:r>
              <a:rPr lang="en-US" sz="1500" dirty="0">
                <a:solidFill>
                  <a:schemeClr val="accent3"/>
                </a:solidFill>
                <a:latin typeface="+mn-lt" pitchFamily="34" charset="0"/>
                <a:ea typeface="+mn-lt" pitchFamily="34" charset="-122"/>
                <a:cs typeface="+mn-lt" pitchFamily="34" charset="-120"/>
              </a:rPr>
              <a:t>Confirm the four pillars and decide what comes first.</a:t>
            </a:r>
            <a:endParaRPr lang="en-US" sz="1500" dirty="0"/>
          </a:p>
        </p:txBody>
      </p:sp>
      <p:sp>
        <p:nvSpPr>
          <p:cNvPr id="12" name="Card 03"/>
          <p:cNvSpPr/>
          <p:nvPr/>
        </p:nvSpPr>
        <p:spPr>
          <a:xfrm>
            <a:off x="8097317" y="2286000"/>
            <a:ext cx="3271418" cy="3291840"/>
          </a:xfrm>
          <a:prstGeom prst="rect">
            <a:avLst/>
          </a:prstGeom>
          <a:solidFill>
            <a:schemeClr val="bg2"/>
          </a:solidFill>
          <a:ln w="12700">
            <a:solidFill>
              <a:schemeClr val="bg2"/>
            </a:solidFill>
            <a:prstDash val="solid"/>
          </a:ln>
        </p:spPr>
      </p:sp>
      <p:sp>
        <p:nvSpPr>
          <p:cNvPr id="13" name="Card number 03"/>
          <p:cNvSpPr txBox="1"/>
          <p:nvPr/>
        </p:nvSpPr>
        <p:spPr>
          <a:xfrm>
            <a:off x="8508797" y="2697480"/>
            <a:ext cx="2448458" cy="640080"/>
          </a:xfrm>
          <a:prstGeom prst="rect">
            <a:avLst/>
          </a:prstGeom>
          <a:noFill/>
          <a:ln/>
        </p:spPr>
        <p:txBody>
          <a:bodyPr wrap="square" lIns="0" tIns="0" rIns="0" bIns="0" rtlCol="0" anchor="t"/>
          <a:lstStyle/>
          <a:p>
            <a:pPr indent="0" marL="0">
              <a:buNone/>
            </a:pPr>
            <a:r>
              <a:rPr lang="en-US" sz="4000" dirty="0">
                <a:solidFill>
                  <a:schemeClr val="accent2"/>
                </a:solidFill>
                <a:latin typeface="+mj-lt" pitchFamily="34" charset="0"/>
                <a:ea typeface="+mj-lt" pitchFamily="34" charset="-122"/>
                <a:cs typeface="+mj-lt" pitchFamily="34" charset="-120"/>
              </a:rPr>
              <a:t>03</a:t>
            </a:r>
            <a:endParaRPr lang="en-US" sz="4000" dirty="0"/>
          </a:p>
        </p:txBody>
      </p:sp>
      <p:sp>
        <p:nvSpPr>
          <p:cNvPr id="14" name="Card title Commit"/>
          <p:cNvSpPr txBox="1"/>
          <p:nvPr/>
        </p:nvSpPr>
        <p:spPr>
          <a:xfrm>
            <a:off x="8508797" y="3611880"/>
            <a:ext cx="2448458" cy="4572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Commit</a:t>
            </a:r>
            <a:endParaRPr lang="en-US" sz="2200" dirty="0"/>
          </a:p>
        </p:txBody>
      </p:sp>
      <p:sp>
        <p:nvSpPr>
          <p:cNvPr id="15" name="Card body Commit"/>
          <p:cNvSpPr txBox="1"/>
          <p:nvPr/>
        </p:nvSpPr>
        <p:spPr>
          <a:xfrm>
            <a:off x="8508797" y="4114800"/>
            <a:ext cx="2448458" cy="1097280"/>
          </a:xfrm>
          <a:prstGeom prst="rect">
            <a:avLst/>
          </a:prstGeom>
          <a:noFill/>
          <a:ln/>
        </p:spPr>
        <p:txBody>
          <a:bodyPr wrap="square" lIns="0" tIns="0" rIns="0" bIns="0" rtlCol="0" anchor="t"/>
          <a:lstStyle/>
          <a:p>
            <a:pPr indent="0" marL="0">
              <a:lnSpc>
                <a:spcPct val="125000"/>
              </a:lnSpc>
              <a:buNone/>
            </a:pPr>
            <a:r>
              <a:rPr lang="en-US" sz="1500" dirty="0">
                <a:solidFill>
                  <a:schemeClr val="accent3"/>
                </a:solidFill>
                <a:latin typeface="+mn-lt" pitchFamily="34" charset="0"/>
                <a:ea typeface="+mn-lt" pitchFamily="34" charset="-122"/>
                <a:cs typeface="+mn-lt" pitchFamily="34" charset="-120"/>
              </a:rPr>
              <a:t>Agree the next step: a concrete, costed plan with owners and dates.</a:t>
            </a:r>
            <a:endParaRPr lang="en-US" sz="1500" dirty="0"/>
          </a:p>
        </p:txBody>
      </p:sp>
      <p:sp>
        <p:nvSpPr>
          <p:cNvPr id="16"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Today"/>
          <p:cNvSpPr txBox="1"/>
          <p:nvPr/>
        </p:nvSpPr>
        <p:spPr>
          <a:xfrm>
            <a:off x="822960" y="777240"/>
            <a:ext cx="10545775"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TODAY</a:t>
            </a:r>
            <a:endParaRPr lang="en-US" sz="1200" dirty="0"/>
          </a:p>
        </p:txBody>
      </p:sp>
      <p:sp>
        <p:nvSpPr>
          <p:cNvPr id="3" name="Title"/>
          <p:cNvSpPr txBox="1"/>
          <p:nvPr/>
        </p:nvSpPr>
        <p:spPr>
          <a:xfrm>
            <a:off x="822960" y="1051560"/>
            <a:ext cx="10545775" cy="731520"/>
          </a:xfrm>
          <a:prstGeom prst="rect">
            <a:avLst/>
          </a:prstGeom>
          <a:noFill/>
          <a:ln/>
        </p:spPr>
        <p:txBody>
          <a:bodyPr wrap="square" lIns="0" tIns="0" rIns="0" bIns="0" rtlCol="0" anchor="t"/>
          <a:lstStyle/>
          <a:p>
            <a:pPr indent="0" marL="0">
              <a:buNone/>
            </a:pPr>
            <a:r>
              <a:rPr lang="en-US" sz="4000" dirty="0">
                <a:solidFill>
                  <a:schemeClr val="tx1"/>
                </a:solidFill>
                <a:latin typeface="+mj-lt" pitchFamily="34" charset="0"/>
                <a:ea typeface="+mj-lt" pitchFamily="34" charset="-122"/>
                <a:cs typeface="+mj-lt" pitchFamily="34" charset="-120"/>
              </a:rPr>
              <a:t>Where Al Shami stands today</a:t>
            </a:r>
            <a:endParaRPr lang="en-US" sz="4000" dirty="0"/>
          </a:p>
        </p:txBody>
      </p:sp>
      <p:sp>
        <p:nvSpPr>
          <p:cNvPr id="4" name="Column 1"/>
          <p:cNvSpPr/>
          <p:nvPr/>
        </p:nvSpPr>
        <p:spPr>
          <a:xfrm>
            <a:off x="822960" y="2194560"/>
            <a:ext cx="5090008" cy="3657600"/>
          </a:xfrm>
          <a:prstGeom prst="rect">
            <a:avLst/>
          </a:prstGeom>
          <a:solidFill>
            <a:schemeClr val="bg1"/>
          </a:solidFill>
          <a:ln w="12700">
            <a:solidFill>
              <a:schemeClr val="bg1"/>
            </a:solidFill>
            <a:prstDash val="solid"/>
          </a:ln>
        </p:spPr>
      </p:sp>
      <p:sp>
        <p:nvSpPr>
          <p:cNvPr id="5" name="Column heading"/>
          <p:cNvSpPr txBox="1"/>
          <p:nvPr/>
        </p:nvSpPr>
        <p:spPr>
          <a:xfrm>
            <a:off x="1280160" y="2651760"/>
            <a:ext cx="4175608" cy="4572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What we build on</a:t>
            </a:r>
            <a:endParaRPr lang="en-US" sz="2200" dirty="0"/>
          </a:p>
        </p:txBody>
      </p:sp>
      <p:sp>
        <p:nvSpPr>
          <p:cNvPr id="6" name="Marker"/>
          <p:cNvSpPr/>
          <p:nvPr/>
        </p:nvSpPr>
        <p:spPr>
          <a:xfrm>
            <a:off x="1280160" y="3593592"/>
            <a:ext cx="109728" cy="109728"/>
          </a:xfrm>
          <a:prstGeom prst="ellipse">
            <a:avLst/>
          </a:prstGeom>
          <a:solidFill>
            <a:schemeClr val="accent2"/>
          </a:solidFill>
          <a:ln w="12700">
            <a:solidFill>
              <a:schemeClr val="accent2"/>
            </a:solidFill>
            <a:prstDash val="solid"/>
          </a:ln>
        </p:spPr>
      </p:sp>
      <p:sp>
        <p:nvSpPr>
          <p:cNvPr id="7" name="Item 1"/>
          <p:cNvSpPr txBox="1"/>
          <p:nvPr/>
        </p:nvSpPr>
        <p:spPr>
          <a:xfrm>
            <a:off x="1572768" y="352044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A trusted name with [a century] of roasting craft</a:t>
            </a:r>
            <a:endParaRPr lang="en-US" sz="1500" dirty="0"/>
          </a:p>
        </p:txBody>
      </p:sp>
      <p:sp>
        <p:nvSpPr>
          <p:cNvPr id="8" name="Marker"/>
          <p:cNvSpPr/>
          <p:nvPr/>
        </p:nvSpPr>
        <p:spPr>
          <a:xfrm>
            <a:off x="1280160" y="4142232"/>
            <a:ext cx="109728" cy="109728"/>
          </a:xfrm>
          <a:prstGeom prst="ellipse">
            <a:avLst/>
          </a:prstGeom>
          <a:solidFill>
            <a:schemeClr val="accent2"/>
          </a:solidFill>
          <a:ln w="12700">
            <a:solidFill>
              <a:schemeClr val="accent2"/>
            </a:solidFill>
            <a:prstDash val="solid"/>
          </a:ln>
        </p:spPr>
      </p:sp>
      <p:sp>
        <p:nvSpPr>
          <p:cNvPr id="9" name="Item 2"/>
          <p:cNvSpPr txBox="1"/>
          <p:nvPr/>
        </p:nvSpPr>
        <p:spPr>
          <a:xfrm>
            <a:off x="1572768" y="406908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Grab &amp; go: the first step into modern retail</a:t>
            </a:r>
            <a:endParaRPr lang="en-US" sz="1500" dirty="0"/>
          </a:p>
        </p:txBody>
      </p:sp>
      <p:sp>
        <p:nvSpPr>
          <p:cNvPr id="10" name="Marker"/>
          <p:cNvSpPr/>
          <p:nvPr/>
        </p:nvSpPr>
        <p:spPr>
          <a:xfrm>
            <a:off x="1280160" y="4690872"/>
            <a:ext cx="109728" cy="109728"/>
          </a:xfrm>
          <a:prstGeom prst="ellipse">
            <a:avLst/>
          </a:prstGeom>
          <a:solidFill>
            <a:schemeClr val="accent2"/>
          </a:solidFill>
          <a:ln w="12700">
            <a:solidFill>
              <a:schemeClr val="accent2"/>
            </a:solidFill>
            <a:prstDash val="solid"/>
          </a:ln>
        </p:spPr>
      </p:sp>
      <p:sp>
        <p:nvSpPr>
          <p:cNvPr id="11" name="Item 3"/>
          <p:cNvSpPr txBox="1"/>
          <p:nvPr/>
        </p:nvSpPr>
        <p:spPr>
          <a:xfrm>
            <a:off x="1572768" y="461772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Modernisation efforts already underway</a:t>
            </a:r>
            <a:endParaRPr lang="en-US" sz="1500" dirty="0"/>
          </a:p>
        </p:txBody>
      </p:sp>
      <p:sp>
        <p:nvSpPr>
          <p:cNvPr id="12" name="Marker"/>
          <p:cNvSpPr/>
          <p:nvPr/>
        </p:nvSpPr>
        <p:spPr>
          <a:xfrm>
            <a:off x="1280160" y="5239512"/>
            <a:ext cx="109728" cy="109728"/>
          </a:xfrm>
          <a:prstGeom prst="ellipse">
            <a:avLst/>
          </a:prstGeom>
          <a:solidFill>
            <a:schemeClr val="accent2"/>
          </a:solidFill>
          <a:ln w="12700">
            <a:solidFill>
              <a:schemeClr val="accent2"/>
            </a:solidFill>
            <a:prstDash val="solid"/>
          </a:ln>
        </p:spPr>
      </p:sp>
      <p:sp>
        <p:nvSpPr>
          <p:cNvPr id="13" name="Item 4"/>
          <p:cNvSpPr txBox="1"/>
          <p:nvPr/>
        </p:nvSpPr>
        <p:spPr>
          <a:xfrm>
            <a:off x="1572768" y="516636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Loyal customers and strong local recognition</a:t>
            </a:r>
            <a:endParaRPr lang="en-US" sz="1500" dirty="0"/>
          </a:p>
        </p:txBody>
      </p:sp>
      <p:sp>
        <p:nvSpPr>
          <p:cNvPr id="14" name="Column 2"/>
          <p:cNvSpPr/>
          <p:nvPr/>
        </p:nvSpPr>
        <p:spPr>
          <a:xfrm>
            <a:off x="6278728" y="2194560"/>
            <a:ext cx="5090008" cy="3657600"/>
          </a:xfrm>
          <a:prstGeom prst="rect">
            <a:avLst/>
          </a:prstGeom>
          <a:solidFill>
            <a:schemeClr val="bg1"/>
          </a:solidFill>
          <a:ln w="12700">
            <a:solidFill>
              <a:schemeClr val="bg1"/>
            </a:solidFill>
            <a:prstDash val="solid"/>
          </a:ln>
        </p:spPr>
      </p:sp>
      <p:sp>
        <p:nvSpPr>
          <p:cNvPr id="15" name="Column heading"/>
          <p:cNvSpPr txBox="1"/>
          <p:nvPr/>
        </p:nvSpPr>
        <p:spPr>
          <a:xfrm>
            <a:off x="6735928" y="2651760"/>
            <a:ext cx="4175608" cy="4572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What we need to fix</a:t>
            </a:r>
            <a:endParaRPr lang="en-US" sz="2200" dirty="0"/>
          </a:p>
        </p:txBody>
      </p:sp>
      <p:sp>
        <p:nvSpPr>
          <p:cNvPr id="16" name="Eyebrow: Hypotheses to validate"/>
          <p:cNvSpPr txBox="1"/>
          <p:nvPr/>
        </p:nvSpPr>
        <p:spPr>
          <a:xfrm>
            <a:off x="6735928" y="3127248"/>
            <a:ext cx="4175608"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HYPOTHESES TO VALIDATE</a:t>
            </a:r>
            <a:endParaRPr lang="en-US" sz="1200" dirty="0"/>
          </a:p>
        </p:txBody>
      </p:sp>
      <p:sp>
        <p:nvSpPr>
          <p:cNvPr id="17" name="Marker"/>
          <p:cNvSpPr/>
          <p:nvPr/>
        </p:nvSpPr>
        <p:spPr>
          <a:xfrm>
            <a:off x="6735928" y="3593592"/>
            <a:ext cx="109728" cy="109728"/>
          </a:xfrm>
          <a:prstGeom prst="ellipse">
            <a:avLst/>
          </a:prstGeom>
          <a:solidFill>
            <a:schemeClr val="bg1"/>
          </a:solidFill>
          <a:ln w="12700">
            <a:solidFill>
              <a:schemeClr val="accent2"/>
            </a:solidFill>
            <a:prstDash val="solid"/>
          </a:ln>
        </p:spPr>
      </p:sp>
      <p:sp>
        <p:nvSpPr>
          <p:cNvPr id="18" name="Item 1"/>
          <p:cNvSpPr txBox="1"/>
          <p:nvPr/>
        </p:nvSpPr>
        <p:spPr>
          <a:xfrm>
            <a:off x="7028536" y="352044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A brand and packaging built for regional growth</a:t>
            </a:r>
            <a:endParaRPr lang="en-US" sz="1500" dirty="0"/>
          </a:p>
        </p:txBody>
      </p:sp>
      <p:sp>
        <p:nvSpPr>
          <p:cNvPr id="19" name="Marker"/>
          <p:cNvSpPr/>
          <p:nvPr/>
        </p:nvSpPr>
        <p:spPr>
          <a:xfrm>
            <a:off x="6735928" y="4142232"/>
            <a:ext cx="109728" cy="109728"/>
          </a:xfrm>
          <a:prstGeom prst="ellipse">
            <a:avLst/>
          </a:prstGeom>
          <a:solidFill>
            <a:schemeClr val="bg1"/>
          </a:solidFill>
          <a:ln w="12700">
            <a:solidFill>
              <a:schemeClr val="accent2"/>
            </a:solidFill>
            <a:prstDash val="solid"/>
          </a:ln>
        </p:spPr>
      </p:sp>
      <p:sp>
        <p:nvSpPr>
          <p:cNvPr id="20" name="Item 2"/>
          <p:cNvSpPr txBox="1"/>
          <p:nvPr/>
        </p:nvSpPr>
        <p:spPr>
          <a:xfrm>
            <a:off x="7028536" y="406908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Standard operations and consistent quality</a:t>
            </a:r>
            <a:endParaRPr lang="en-US" sz="1500" dirty="0"/>
          </a:p>
        </p:txBody>
      </p:sp>
      <p:sp>
        <p:nvSpPr>
          <p:cNvPr id="21" name="Marker"/>
          <p:cNvSpPr/>
          <p:nvPr/>
        </p:nvSpPr>
        <p:spPr>
          <a:xfrm>
            <a:off x="6735928" y="4690872"/>
            <a:ext cx="109728" cy="109728"/>
          </a:xfrm>
          <a:prstGeom prst="ellipse">
            <a:avLst/>
          </a:prstGeom>
          <a:solidFill>
            <a:schemeClr val="bg1"/>
          </a:solidFill>
          <a:ln w="12700">
            <a:solidFill>
              <a:schemeClr val="accent2"/>
            </a:solidFill>
            <a:prstDash val="solid"/>
          </a:ln>
        </p:spPr>
      </p:sp>
      <p:sp>
        <p:nvSpPr>
          <p:cNvPr id="22" name="Item 3"/>
          <p:cNvSpPr txBox="1"/>
          <p:nvPr/>
        </p:nvSpPr>
        <p:spPr>
          <a:xfrm>
            <a:off x="7028536" y="461772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Talent, training and a clear structure</a:t>
            </a:r>
            <a:endParaRPr lang="en-US" sz="1500" dirty="0"/>
          </a:p>
        </p:txBody>
      </p:sp>
      <p:sp>
        <p:nvSpPr>
          <p:cNvPr id="23" name="Marker"/>
          <p:cNvSpPr/>
          <p:nvPr/>
        </p:nvSpPr>
        <p:spPr>
          <a:xfrm>
            <a:off x="6735928" y="5239512"/>
            <a:ext cx="109728" cy="109728"/>
          </a:xfrm>
          <a:prstGeom prst="ellipse">
            <a:avLst/>
          </a:prstGeom>
          <a:solidFill>
            <a:schemeClr val="bg1"/>
          </a:solidFill>
          <a:ln w="12700">
            <a:solidFill>
              <a:schemeClr val="accent2"/>
            </a:solidFill>
            <a:prstDash val="solid"/>
          </a:ln>
        </p:spPr>
      </p:sp>
      <p:sp>
        <p:nvSpPr>
          <p:cNvPr id="24" name="Item 4"/>
          <p:cNvSpPr txBox="1"/>
          <p:nvPr/>
        </p:nvSpPr>
        <p:spPr>
          <a:xfrm>
            <a:off x="7028536" y="5166360"/>
            <a:ext cx="3883000" cy="457200"/>
          </a:xfrm>
          <a:prstGeom prst="rect">
            <a:avLst/>
          </a:prstGeom>
          <a:noFill/>
          <a:ln/>
        </p:spPr>
        <p:txBody>
          <a:bodyPr wrap="square" lIns="0" tIns="0" rIns="0" bIns="0" rtlCol="0" anchor="t"/>
          <a:lstStyle/>
          <a:p>
            <a:pPr indent="0" marL="0">
              <a:buNone/>
            </a:pPr>
            <a:r>
              <a:rPr lang="en-US" sz="1500" dirty="0">
                <a:solidFill>
                  <a:schemeClr val="accent3"/>
                </a:solidFill>
                <a:latin typeface="+mn-lt" pitchFamily="34" charset="0"/>
                <a:ea typeface="+mn-lt" pitchFamily="34" charset="-122"/>
                <a:cs typeface="+mn-lt" pitchFamily="34" charset="-120"/>
              </a:rPr>
              <a:t>A growth roadmap beyond Syria</a:t>
            </a:r>
            <a:endParaRPr lang="en-US" sz="1500" dirty="0"/>
          </a:p>
        </p:txBody>
      </p:sp>
      <p:sp>
        <p:nvSpPr>
          <p:cNvPr id="25"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04-ambition" descr="Arabic coffee poured from a brass dallah">    </p:cNvPr>
          <p:cNvPicPr>
            <a:picLocks noChangeAspect="1"/>
          </p:cNvPicPr>
          <p:nvPr/>
        </p:nvPicPr>
        <p:blipFill>
          <a:blip r:embed="rId1"/>
          <a:srcRect l="0" r="0" t="0" b="0"/>
          <a:stretch/>
        </p:blipFill>
        <p:spPr>
          <a:xfrm>
            <a:off x="0" y="0"/>
            <a:ext cx="12191695" cy="6858000"/>
          </a:xfrm>
          <a:prstGeom prst="rect">
            <a:avLst/>
          </a:prstGeom>
        </p:spPr>
      </p:pic>
      <p:pic>
        <p:nvPicPr>
          <p:cNvPr id="3" name="Scrim scrim_green" descr="Gradient scrim">    </p:cNvPr>
          <p:cNvPicPr>
            <a:picLocks noChangeAspect="1"/>
          </p:cNvPicPr>
          <p:nvPr/>
        </p:nvPicPr>
        <p:blipFill>
          <a:blip r:embed="rId2"/>
          <a:stretch>
            <a:fillRect/>
          </a:stretch>
        </p:blipFill>
        <p:spPr>
          <a:xfrm>
            <a:off x="0" y="0"/>
            <a:ext cx="12191695" cy="6858000"/>
          </a:xfrm>
          <a:prstGeom prst="rect">
            <a:avLst/>
          </a:prstGeom>
        </p:spPr>
      </p:pic>
      <p:sp>
        <p:nvSpPr>
          <p:cNvPr id="4" name="Photo slot label 04-ambition"/>
          <p:cNvSpPr txBox="1"/>
          <p:nvPr/>
        </p:nvSpPr>
        <p:spPr>
          <a:xfrm>
            <a:off x="228600" y="274320"/>
            <a:ext cx="11734495" cy="548640"/>
          </a:xfrm>
          <a:prstGeom prst="rect">
            <a:avLst/>
          </a:prstGeom>
          <a:noFill/>
          <a:ln/>
        </p:spPr>
        <p:txBody>
          <a:bodyPr wrap="square" lIns="0" tIns="0" rIns="0" bIns="0" rtlCol="0" anchor="t"/>
          <a:lstStyle/>
          <a:p>
            <a:pPr algn="r" indent="0" marL="0">
              <a:buNone/>
            </a:pPr>
            <a:r>
              <a:rPr lang="en-US" sz="900" spc="150" kern="0" dirty="0">
                <a:solidFill>
                  <a:schemeClr val="accent4"/>
                </a:solidFill>
                <a:latin typeface="+mn-lt" pitchFamily="34" charset="0"/>
                <a:ea typeface="+mn-lt" pitchFamily="34" charset="-122"/>
                <a:cs typeface="+mn-lt" pitchFamily="34" charset="-120"/>
              </a:rPr>
              <a:t>PHOTO SLOT 04-AMBITION : ARABIC COFFEE POURED FROM A BRASS DALLAH</a:t>
            </a:r>
            <a:endParaRPr lang="en-US" sz="900" dirty="0"/>
          </a:p>
        </p:txBody>
      </p:sp>
      <p:sp>
        <p:nvSpPr>
          <p:cNvPr id="5" name="Eyebrow: The ambition"/>
          <p:cNvSpPr txBox="1"/>
          <p:nvPr/>
        </p:nvSpPr>
        <p:spPr>
          <a:xfrm>
            <a:off x="822960" y="2057400"/>
            <a:ext cx="10545775"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THE AMBITION</a:t>
            </a:r>
            <a:endParaRPr lang="en-US" sz="1200" dirty="0"/>
          </a:p>
        </p:txBody>
      </p:sp>
      <p:sp>
        <p:nvSpPr>
          <p:cNvPr id="6" name="Statement"/>
          <p:cNvSpPr txBox="1"/>
          <p:nvPr/>
        </p:nvSpPr>
        <p:spPr>
          <a:xfrm>
            <a:off x="822960" y="2423160"/>
            <a:ext cx="10545775" cy="1554480"/>
          </a:xfrm>
          <a:prstGeom prst="rect">
            <a:avLst/>
          </a:prstGeom>
          <a:noFill/>
          <a:ln/>
        </p:spPr>
        <p:txBody>
          <a:bodyPr wrap="square" lIns="0" tIns="0" rIns="0" bIns="0" rtlCol="0" anchor="t"/>
          <a:lstStyle/>
          <a:p>
            <a:pPr indent="0" marL="0">
              <a:lnSpc>
                <a:spcPct val="105000"/>
              </a:lnSpc>
              <a:buNone/>
            </a:pPr>
            <a:r>
              <a:rPr lang="en-US" sz="4000" dirty="0">
                <a:solidFill>
                  <a:schemeClr val="bg1"/>
                </a:solidFill>
                <a:latin typeface="+mj-lt" pitchFamily="34" charset="0"/>
                <a:ea typeface="+mj-lt" pitchFamily="34" charset="-122"/>
                <a:cs typeface="+mj-lt" pitchFamily="34" charset="-120"/>
              </a:rPr>
              <a:t>From Syria’s heritage roaster to the Middle East’s proudest coffee and hospitality house.</a:t>
            </a:r>
            <a:endParaRPr lang="en-US" sz="4000" dirty="0"/>
          </a:p>
        </p:txBody>
      </p:sp>
      <p:sp>
        <p:nvSpPr>
          <p:cNvPr id="7" name="Statement sub"/>
          <p:cNvSpPr txBox="1"/>
          <p:nvPr/>
        </p:nvSpPr>
        <p:spPr>
          <a:xfrm>
            <a:off x="822960" y="4160520"/>
            <a:ext cx="7498080" cy="822960"/>
          </a:xfrm>
          <a:prstGeom prst="rect">
            <a:avLst/>
          </a:prstGeom>
          <a:noFill/>
          <a:ln/>
        </p:spPr>
        <p:txBody>
          <a:bodyPr wrap="square" lIns="0" tIns="0" rIns="0" bIns="0" rtlCol="0" anchor="t"/>
          <a:lstStyle/>
          <a:p>
            <a:pPr indent="0" marL="0">
              <a:lnSpc>
                <a:spcPct val="125000"/>
              </a:lnSpc>
              <a:buNone/>
            </a:pPr>
            <a:r>
              <a:rPr lang="en-US" sz="1800" dirty="0">
                <a:solidFill>
                  <a:schemeClr val="accent4"/>
                </a:solidFill>
                <a:latin typeface="+mn-lt" pitchFamily="34" charset="0"/>
                <a:ea typeface="+mn-lt" pitchFamily="34" charset="-122"/>
                <a:cs typeface="+mn-lt" pitchFamily="34" charset="-120"/>
              </a:rPr>
              <a:t>A proud brand that grows across the region, gives back to its community and builds a legacy that outlasts its founders.</a:t>
            </a:r>
            <a:endParaRPr lang="en-US" sz="1800" dirty="0"/>
          </a:p>
        </p:txBody>
      </p:sp>
      <p:sp>
        <p:nvSpPr>
          <p:cNvPr id="8"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4"/>
                </a:solidFill>
                <a:latin typeface="+mn-lt" pitchFamily="34" charset="0"/>
                <a:ea typeface="+mn-lt" pitchFamily="34" charset="-122"/>
                <a:cs typeface="+mn-lt" pitchFamily="34" charset="-120"/>
              </a:rPr>
              <a:t>The Master Plan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The plan"/>
          <p:cNvSpPr txBox="1"/>
          <p:nvPr/>
        </p:nvSpPr>
        <p:spPr>
          <a:xfrm>
            <a:off x="822960" y="777240"/>
            <a:ext cx="10545775"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THE PLAN</a:t>
            </a:r>
            <a:endParaRPr lang="en-US" sz="1200" dirty="0"/>
          </a:p>
        </p:txBody>
      </p:sp>
      <p:sp>
        <p:nvSpPr>
          <p:cNvPr id="3" name="Title"/>
          <p:cNvSpPr txBox="1"/>
          <p:nvPr/>
        </p:nvSpPr>
        <p:spPr>
          <a:xfrm>
            <a:off x="822960" y="1051560"/>
            <a:ext cx="10545775" cy="731520"/>
          </a:xfrm>
          <a:prstGeom prst="rect">
            <a:avLst/>
          </a:prstGeom>
          <a:noFill/>
          <a:ln/>
        </p:spPr>
        <p:txBody>
          <a:bodyPr wrap="square" lIns="0" tIns="0" rIns="0" bIns="0" rtlCol="0" anchor="t"/>
          <a:lstStyle/>
          <a:p>
            <a:pPr indent="0" marL="0">
              <a:buNone/>
            </a:pPr>
            <a:r>
              <a:rPr lang="en-US" sz="4000" dirty="0">
                <a:solidFill>
                  <a:schemeClr val="bg1"/>
                </a:solidFill>
                <a:latin typeface="+mj-lt" pitchFamily="34" charset="0"/>
                <a:ea typeface="+mj-lt" pitchFamily="34" charset="-122"/>
                <a:cs typeface="+mj-lt" pitchFamily="34" charset="-120"/>
              </a:rPr>
              <a:t>Four pillars, one direction</a:t>
            </a:r>
            <a:endParaRPr lang="en-US" sz="4000" dirty="0"/>
          </a:p>
        </p:txBody>
      </p:sp>
      <p:pic>
        <p:nvPicPr>
          <p:cNvPr id="4" name="Photo 05-card-1" descr="Grab and go counter">    </p:cNvPr>
          <p:cNvPicPr>
            <a:picLocks noChangeAspect="1"/>
          </p:cNvPicPr>
          <p:nvPr/>
        </p:nvPicPr>
        <p:blipFill>
          <a:blip r:embed="rId1"/>
          <a:srcRect l="0" r="0" t="0" b="0"/>
          <a:stretch/>
        </p:blipFill>
        <p:spPr>
          <a:xfrm>
            <a:off x="822960" y="2057400"/>
            <a:ext cx="2408072" cy="1920240"/>
          </a:xfrm>
          <a:prstGeom prst="rect">
            <a:avLst/>
          </a:prstGeom>
        </p:spPr>
      </p:pic>
      <p:pic>
        <p:nvPicPr>
          <p:cNvPr id="5" name="Scrim scrim_bottom" descr="Gradient scrim">    </p:cNvPr>
          <p:cNvPicPr>
            <a:picLocks noChangeAspect="1"/>
          </p:cNvPicPr>
          <p:nvPr/>
        </p:nvPicPr>
        <p:blipFill>
          <a:blip r:embed="rId2"/>
          <a:stretch>
            <a:fillRect/>
          </a:stretch>
        </p:blipFill>
        <p:spPr>
          <a:xfrm>
            <a:off x="822960" y="2057400"/>
            <a:ext cx="2408072" cy="1920240"/>
          </a:xfrm>
          <a:prstGeom prst="rect">
            <a:avLst/>
          </a:prstGeom>
        </p:spPr>
      </p:pic>
      <p:sp>
        <p:nvSpPr>
          <p:cNvPr id="6" name="Photo slot label 05-card-1"/>
          <p:cNvSpPr txBox="1"/>
          <p:nvPr/>
        </p:nvSpPr>
        <p:spPr>
          <a:xfrm>
            <a:off x="1051560" y="2331720"/>
            <a:ext cx="1950872"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05-CARD-1 : GRAB AND GO COUNTER</a:t>
            </a:r>
            <a:endParaRPr lang="en-US" sz="900" dirty="0"/>
          </a:p>
        </p:txBody>
      </p:sp>
      <p:sp>
        <p:nvSpPr>
          <p:cNvPr id="7" name="Pillar number 01"/>
          <p:cNvSpPr txBox="1"/>
          <p:nvPr/>
        </p:nvSpPr>
        <p:spPr>
          <a:xfrm>
            <a:off x="1097280" y="3246120"/>
            <a:ext cx="1097280" cy="54864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01</a:t>
            </a:r>
            <a:endParaRPr lang="en-US" sz="4000" dirty="0"/>
          </a:p>
        </p:txBody>
      </p:sp>
      <p:sp>
        <p:nvSpPr>
          <p:cNvPr id="8" name="Pillar panel 01"/>
          <p:cNvSpPr/>
          <p:nvPr/>
        </p:nvSpPr>
        <p:spPr>
          <a:xfrm>
            <a:off x="822960" y="3977640"/>
            <a:ext cx="2408072" cy="2148840"/>
          </a:xfrm>
          <a:prstGeom prst="rect">
            <a:avLst/>
          </a:prstGeom>
          <a:solidFill>
            <a:schemeClr val="accent5"/>
          </a:solidFill>
          <a:ln w="12700">
            <a:solidFill>
              <a:schemeClr val="accent5"/>
            </a:solidFill>
            <a:prstDash val="solid"/>
          </a:ln>
        </p:spPr>
      </p:sp>
      <p:sp>
        <p:nvSpPr>
          <p:cNvPr id="9" name="Pillar title 01"/>
          <p:cNvSpPr txBox="1"/>
          <p:nvPr/>
        </p:nvSpPr>
        <p:spPr>
          <a:xfrm>
            <a:off x="1097280" y="4233672"/>
            <a:ext cx="1905152" cy="1005840"/>
          </a:xfrm>
          <a:prstGeom prst="rect">
            <a:avLst/>
          </a:prstGeom>
          <a:noFill/>
          <a:ln/>
        </p:spPr>
        <p:txBody>
          <a:bodyPr wrap="square" lIns="0" tIns="0" rIns="0" bIns="0" rtlCol="0" anchor="t"/>
          <a:lstStyle/>
          <a:p>
            <a:pPr indent="0" marL="0">
              <a:lnSpc>
                <a:spcPct val="95000"/>
              </a:lnSpc>
              <a:buNone/>
            </a:pPr>
            <a:r>
              <a:rPr lang="en-US" sz="2200" dirty="0">
                <a:solidFill>
                  <a:schemeClr val="bg1"/>
                </a:solidFill>
                <a:latin typeface="+mj-lt" pitchFamily="34" charset="0"/>
                <a:ea typeface="+mj-lt" pitchFamily="34" charset="-122"/>
                <a:cs typeface="+mj-lt" pitchFamily="34" charset="-120"/>
              </a:rPr>
              <a:t>Fix &amp; modernise Al Shami</a:t>
            </a:r>
            <a:endParaRPr lang="en-US" sz="2200" dirty="0"/>
          </a:p>
        </p:txBody>
      </p:sp>
      <p:sp>
        <p:nvSpPr>
          <p:cNvPr id="10" name="Pillar description 01"/>
          <p:cNvSpPr txBox="1"/>
          <p:nvPr/>
        </p:nvSpPr>
        <p:spPr>
          <a:xfrm>
            <a:off x="1097280" y="5276088"/>
            <a:ext cx="1859432" cy="7772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A proud regional brand built on grab &amp; go</a:t>
            </a:r>
            <a:endParaRPr lang="en-US" sz="1400" dirty="0"/>
          </a:p>
        </p:txBody>
      </p:sp>
      <p:pic>
        <p:nvPicPr>
          <p:cNvPr id="11" name="Photo 05-card-2" descr="Chef plating in an open kitchen">    </p:cNvPr>
          <p:cNvPicPr>
            <a:picLocks noChangeAspect="1"/>
          </p:cNvPicPr>
          <p:nvPr/>
        </p:nvPicPr>
        <p:blipFill>
          <a:blip r:embed="rId3"/>
          <a:srcRect l="0" r="0" t="0" b="0"/>
          <a:stretch/>
        </p:blipFill>
        <p:spPr>
          <a:xfrm>
            <a:off x="3535528" y="2057400"/>
            <a:ext cx="2408072" cy="1920240"/>
          </a:xfrm>
          <a:prstGeom prst="rect">
            <a:avLst/>
          </a:prstGeom>
        </p:spPr>
      </p:pic>
      <p:pic>
        <p:nvPicPr>
          <p:cNvPr id="12" name="Scrim scrim_bottom" descr="Gradient scrim">    </p:cNvPr>
          <p:cNvPicPr>
            <a:picLocks noChangeAspect="1"/>
          </p:cNvPicPr>
          <p:nvPr/>
        </p:nvPicPr>
        <p:blipFill>
          <a:blip r:embed="rId4"/>
          <a:stretch>
            <a:fillRect/>
          </a:stretch>
        </p:blipFill>
        <p:spPr>
          <a:xfrm>
            <a:off x="3535528" y="2057400"/>
            <a:ext cx="2408072" cy="1920240"/>
          </a:xfrm>
          <a:prstGeom prst="rect">
            <a:avLst/>
          </a:prstGeom>
        </p:spPr>
      </p:pic>
      <p:sp>
        <p:nvSpPr>
          <p:cNvPr id="13" name="Photo slot label 05-card-2"/>
          <p:cNvSpPr txBox="1"/>
          <p:nvPr/>
        </p:nvSpPr>
        <p:spPr>
          <a:xfrm>
            <a:off x="3764128" y="2331720"/>
            <a:ext cx="1950872"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05-CARD-2 : CHEF PLATING IN AN OPEN KITCHEN</a:t>
            </a:r>
            <a:endParaRPr lang="en-US" sz="900" dirty="0"/>
          </a:p>
        </p:txBody>
      </p:sp>
      <p:sp>
        <p:nvSpPr>
          <p:cNvPr id="14" name="Pillar number 02"/>
          <p:cNvSpPr txBox="1"/>
          <p:nvPr/>
        </p:nvSpPr>
        <p:spPr>
          <a:xfrm>
            <a:off x="3809848" y="3246120"/>
            <a:ext cx="1097280" cy="54864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02</a:t>
            </a:r>
            <a:endParaRPr lang="en-US" sz="4000" dirty="0"/>
          </a:p>
        </p:txBody>
      </p:sp>
      <p:sp>
        <p:nvSpPr>
          <p:cNvPr id="15" name="Pillar panel 02"/>
          <p:cNvSpPr/>
          <p:nvPr/>
        </p:nvSpPr>
        <p:spPr>
          <a:xfrm>
            <a:off x="3535528" y="3977640"/>
            <a:ext cx="2408072" cy="2148840"/>
          </a:xfrm>
          <a:prstGeom prst="rect">
            <a:avLst/>
          </a:prstGeom>
          <a:solidFill>
            <a:schemeClr val="accent5"/>
          </a:solidFill>
          <a:ln w="12700">
            <a:solidFill>
              <a:schemeClr val="accent5"/>
            </a:solidFill>
            <a:prstDash val="solid"/>
          </a:ln>
        </p:spPr>
      </p:sp>
      <p:sp>
        <p:nvSpPr>
          <p:cNvPr id="16" name="Pillar title 02"/>
          <p:cNvSpPr txBox="1"/>
          <p:nvPr/>
        </p:nvSpPr>
        <p:spPr>
          <a:xfrm>
            <a:off x="3809848" y="4233672"/>
            <a:ext cx="1905152" cy="1005840"/>
          </a:xfrm>
          <a:prstGeom prst="rect">
            <a:avLst/>
          </a:prstGeom>
          <a:noFill/>
          <a:ln/>
        </p:spPr>
        <p:txBody>
          <a:bodyPr wrap="square" lIns="0" tIns="0" rIns="0" bIns="0" rtlCol="0" anchor="t"/>
          <a:lstStyle/>
          <a:p>
            <a:pPr indent="0" marL="0">
              <a:lnSpc>
                <a:spcPct val="95000"/>
              </a:lnSpc>
              <a:buNone/>
            </a:pPr>
            <a:r>
              <a:rPr lang="en-US" sz="2200" dirty="0">
                <a:solidFill>
                  <a:schemeClr val="bg1"/>
                </a:solidFill>
                <a:latin typeface="+mj-lt" pitchFamily="34" charset="0"/>
                <a:ea typeface="+mj-lt" pitchFamily="34" charset="-122"/>
                <a:cs typeface="+mj-lt" pitchFamily="34" charset="-120"/>
              </a:rPr>
              <a:t>New concept creation</a:t>
            </a:r>
            <a:endParaRPr lang="en-US" sz="2200" dirty="0"/>
          </a:p>
        </p:txBody>
      </p:sp>
      <p:sp>
        <p:nvSpPr>
          <p:cNvPr id="17" name="Pillar description 02"/>
          <p:cNvSpPr txBox="1"/>
          <p:nvPr/>
        </p:nvSpPr>
        <p:spPr>
          <a:xfrm>
            <a:off x="3809848" y="5276088"/>
            <a:ext cx="1859432" cy="7772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New F&amp;B brands that diversify growth</a:t>
            </a:r>
            <a:endParaRPr lang="en-US" sz="1400" dirty="0"/>
          </a:p>
        </p:txBody>
      </p:sp>
      <p:pic>
        <p:nvPicPr>
          <p:cNvPr id="18" name="Photo 05-card-3" descr="Resort terrace at sunset">    </p:cNvPr>
          <p:cNvPicPr>
            <a:picLocks noChangeAspect="1"/>
          </p:cNvPicPr>
          <p:nvPr/>
        </p:nvPicPr>
        <p:blipFill>
          <a:blip r:embed="rId5"/>
          <a:srcRect l="0" r="0" t="0" b="0"/>
          <a:stretch/>
        </p:blipFill>
        <p:spPr>
          <a:xfrm>
            <a:off x="6248095" y="2057400"/>
            <a:ext cx="2408072" cy="1920240"/>
          </a:xfrm>
          <a:prstGeom prst="rect">
            <a:avLst/>
          </a:prstGeom>
        </p:spPr>
      </p:pic>
      <p:pic>
        <p:nvPicPr>
          <p:cNvPr id="19" name="Scrim scrim_bottom" descr="Gradient scrim">    </p:cNvPr>
          <p:cNvPicPr>
            <a:picLocks noChangeAspect="1"/>
          </p:cNvPicPr>
          <p:nvPr/>
        </p:nvPicPr>
        <p:blipFill>
          <a:blip r:embed="rId6"/>
          <a:stretch>
            <a:fillRect/>
          </a:stretch>
        </p:blipFill>
        <p:spPr>
          <a:xfrm>
            <a:off x="6248095" y="2057400"/>
            <a:ext cx="2408072" cy="1920240"/>
          </a:xfrm>
          <a:prstGeom prst="rect">
            <a:avLst/>
          </a:prstGeom>
        </p:spPr>
      </p:pic>
      <p:sp>
        <p:nvSpPr>
          <p:cNvPr id="20" name="Photo slot label 05-card-3"/>
          <p:cNvSpPr txBox="1"/>
          <p:nvPr/>
        </p:nvSpPr>
        <p:spPr>
          <a:xfrm>
            <a:off x="6476695" y="2331720"/>
            <a:ext cx="1950872"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05-CARD-3 : RESORT TERRACE AT SUNSET</a:t>
            </a:r>
            <a:endParaRPr lang="en-US" sz="900" dirty="0"/>
          </a:p>
        </p:txBody>
      </p:sp>
      <p:sp>
        <p:nvSpPr>
          <p:cNvPr id="21" name="Pillar number 03"/>
          <p:cNvSpPr txBox="1"/>
          <p:nvPr/>
        </p:nvSpPr>
        <p:spPr>
          <a:xfrm>
            <a:off x="6522415" y="3246120"/>
            <a:ext cx="1097280" cy="54864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03</a:t>
            </a:r>
            <a:endParaRPr lang="en-US" sz="4000" dirty="0"/>
          </a:p>
        </p:txBody>
      </p:sp>
      <p:sp>
        <p:nvSpPr>
          <p:cNvPr id="22" name="Pillar panel 03"/>
          <p:cNvSpPr/>
          <p:nvPr/>
        </p:nvSpPr>
        <p:spPr>
          <a:xfrm>
            <a:off x="6248095" y="3977640"/>
            <a:ext cx="2408072" cy="2148840"/>
          </a:xfrm>
          <a:prstGeom prst="rect">
            <a:avLst/>
          </a:prstGeom>
          <a:solidFill>
            <a:schemeClr val="accent5"/>
          </a:solidFill>
          <a:ln w="12700">
            <a:solidFill>
              <a:schemeClr val="accent5"/>
            </a:solidFill>
            <a:prstDash val="solid"/>
          </a:ln>
        </p:spPr>
      </p:sp>
      <p:sp>
        <p:nvSpPr>
          <p:cNvPr id="23" name="Pillar title 03"/>
          <p:cNvSpPr txBox="1"/>
          <p:nvPr/>
        </p:nvSpPr>
        <p:spPr>
          <a:xfrm>
            <a:off x="6522415" y="4233672"/>
            <a:ext cx="1905152" cy="1005840"/>
          </a:xfrm>
          <a:prstGeom prst="rect">
            <a:avLst/>
          </a:prstGeom>
          <a:noFill/>
          <a:ln/>
        </p:spPr>
        <p:txBody>
          <a:bodyPr wrap="square" lIns="0" tIns="0" rIns="0" bIns="0" rtlCol="0" anchor="t"/>
          <a:lstStyle/>
          <a:p>
            <a:pPr indent="0" marL="0">
              <a:lnSpc>
                <a:spcPct val="95000"/>
              </a:lnSpc>
              <a:buNone/>
            </a:pPr>
            <a:r>
              <a:rPr lang="en-US" sz="2200" dirty="0">
                <a:solidFill>
                  <a:schemeClr val="bg1"/>
                </a:solidFill>
                <a:latin typeface="+mj-lt" pitchFamily="34" charset="0"/>
                <a:ea typeface="+mj-lt" pitchFamily="34" charset="-122"/>
                <a:cs typeface="+mj-lt" pitchFamily="34" charset="-120"/>
              </a:rPr>
              <a:t>Resort &amp; hospitality group</a:t>
            </a:r>
            <a:endParaRPr lang="en-US" sz="2200" dirty="0"/>
          </a:p>
        </p:txBody>
      </p:sp>
      <p:sp>
        <p:nvSpPr>
          <p:cNvPr id="24" name="Pillar description 03"/>
          <p:cNvSpPr txBox="1"/>
          <p:nvPr/>
        </p:nvSpPr>
        <p:spPr>
          <a:xfrm>
            <a:off x="6522415" y="5276088"/>
            <a:ext cx="1859432" cy="7772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Venues that carry the Al Shami welcome</a:t>
            </a:r>
            <a:endParaRPr lang="en-US" sz="1400" dirty="0"/>
          </a:p>
        </p:txBody>
      </p:sp>
      <p:pic>
        <p:nvPicPr>
          <p:cNvPr id="25" name="Photo 05-card-4" descr="Hands holding a small cup of cardamom coffee">    </p:cNvPr>
          <p:cNvPicPr>
            <a:picLocks noChangeAspect="1"/>
          </p:cNvPicPr>
          <p:nvPr/>
        </p:nvPicPr>
        <p:blipFill>
          <a:blip r:embed="rId7"/>
          <a:srcRect l="0" r="0" t="0" b="0"/>
          <a:stretch/>
        </p:blipFill>
        <p:spPr>
          <a:xfrm>
            <a:off x="8960663" y="2057400"/>
            <a:ext cx="2408072" cy="1920240"/>
          </a:xfrm>
          <a:prstGeom prst="rect">
            <a:avLst/>
          </a:prstGeom>
        </p:spPr>
      </p:pic>
      <p:pic>
        <p:nvPicPr>
          <p:cNvPr id="26" name="Scrim scrim_bottom" descr="Gradient scrim">    </p:cNvPr>
          <p:cNvPicPr>
            <a:picLocks noChangeAspect="1"/>
          </p:cNvPicPr>
          <p:nvPr/>
        </p:nvPicPr>
        <p:blipFill>
          <a:blip r:embed="rId8"/>
          <a:stretch>
            <a:fillRect/>
          </a:stretch>
        </p:blipFill>
        <p:spPr>
          <a:xfrm>
            <a:off x="8960663" y="2057400"/>
            <a:ext cx="2408072" cy="1920240"/>
          </a:xfrm>
          <a:prstGeom prst="rect">
            <a:avLst/>
          </a:prstGeom>
        </p:spPr>
      </p:pic>
      <p:sp>
        <p:nvSpPr>
          <p:cNvPr id="27" name="Photo slot label 05-card-4"/>
          <p:cNvSpPr txBox="1"/>
          <p:nvPr/>
        </p:nvSpPr>
        <p:spPr>
          <a:xfrm>
            <a:off x="9189263" y="2331720"/>
            <a:ext cx="1950872"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05-CARD-4 : HANDS HOLDING A SMALL CUP OF CARDAMOM COFFEE</a:t>
            </a:r>
            <a:endParaRPr lang="en-US" sz="900" dirty="0"/>
          </a:p>
        </p:txBody>
      </p:sp>
      <p:sp>
        <p:nvSpPr>
          <p:cNvPr id="28" name="Pillar number 04"/>
          <p:cNvSpPr txBox="1"/>
          <p:nvPr/>
        </p:nvSpPr>
        <p:spPr>
          <a:xfrm>
            <a:off x="9234983" y="3246120"/>
            <a:ext cx="1097280" cy="54864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04</a:t>
            </a:r>
            <a:endParaRPr lang="en-US" sz="4000" dirty="0"/>
          </a:p>
        </p:txBody>
      </p:sp>
      <p:sp>
        <p:nvSpPr>
          <p:cNvPr id="29" name="Pillar panel 04"/>
          <p:cNvSpPr/>
          <p:nvPr/>
        </p:nvSpPr>
        <p:spPr>
          <a:xfrm>
            <a:off x="8960663" y="3977640"/>
            <a:ext cx="2408072" cy="2148840"/>
          </a:xfrm>
          <a:prstGeom prst="rect">
            <a:avLst/>
          </a:prstGeom>
          <a:solidFill>
            <a:schemeClr val="accent5"/>
          </a:solidFill>
          <a:ln w="12700">
            <a:solidFill>
              <a:schemeClr val="accent5"/>
            </a:solidFill>
            <a:prstDash val="solid"/>
          </a:ln>
        </p:spPr>
      </p:sp>
      <p:sp>
        <p:nvSpPr>
          <p:cNvPr id="30" name="Pillar title 04"/>
          <p:cNvSpPr txBox="1"/>
          <p:nvPr/>
        </p:nvSpPr>
        <p:spPr>
          <a:xfrm>
            <a:off x="9234983" y="4233672"/>
            <a:ext cx="1905152" cy="1005840"/>
          </a:xfrm>
          <a:prstGeom prst="rect">
            <a:avLst/>
          </a:prstGeom>
          <a:noFill/>
          <a:ln/>
        </p:spPr>
        <p:txBody>
          <a:bodyPr wrap="square" lIns="0" tIns="0" rIns="0" bIns="0" rtlCol="0" anchor="t"/>
          <a:lstStyle/>
          <a:p>
            <a:pPr indent="0" marL="0">
              <a:lnSpc>
                <a:spcPct val="95000"/>
              </a:lnSpc>
              <a:buNone/>
            </a:pPr>
            <a:r>
              <a:rPr lang="en-US" sz="2200" dirty="0">
                <a:solidFill>
                  <a:schemeClr val="bg1"/>
                </a:solidFill>
                <a:latin typeface="+mj-lt" pitchFamily="34" charset="0"/>
                <a:ea typeface="+mj-lt" pitchFamily="34" charset="-122"/>
                <a:cs typeface="+mj-lt" pitchFamily="34" charset="-120"/>
              </a:rPr>
              <a:t>Continuity &amp; legacy</a:t>
            </a:r>
            <a:endParaRPr lang="en-US" sz="2200" dirty="0"/>
          </a:p>
        </p:txBody>
      </p:sp>
      <p:sp>
        <p:nvSpPr>
          <p:cNvPr id="31" name="Pillar description 04"/>
          <p:cNvSpPr txBox="1"/>
          <p:nvPr/>
        </p:nvSpPr>
        <p:spPr>
          <a:xfrm>
            <a:off x="9234983" y="5276088"/>
            <a:ext cx="1859432" cy="7772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Governance, succession and lasting impact</a:t>
            </a:r>
            <a:endParaRPr lang="en-US" sz="1400" dirty="0"/>
          </a:p>
        </p:txBody>
      </p:sp>
      <p:sp>
        <p:nvSpPr>
          <p:cNvPr id="32"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4"/>
                </a:solidFill>
                <a:latin typeface="+mn-lt" pitchFamily="34" charset="0"/>
                <a:ea typeface="+mn-lt" pitchFamily="34" charset="-122"/>
                <a:cs typeface="+mn-lt" pitchFamily="34" charset="-120"/>
              </a:rPr>
              <a:t>The Master Plan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hoto 06-pillar-1" descr="Roastery with burlap sacks">    </p:cNvPr>
          <p:cNvPicPr>
            <a:picLocks noChangeAspect="1"/>
          </p:cNvPicPr>
          <p:nvPr/>
        </p:nvPicPr>
        <p:blipFill>
          <a:blip r:embed="rId1"/>
          <a:srcRect l="0" r="0" t="0" b="0"/>
          <a:stretch/>
        </p:blipFill>
        <p:spPr>
          <a:xfrm>
            <a:off x="0" y="0"/>
            <a:ext cx="4876678" cy="6858000"/>
          </a:xfrm>
          <a:prstGeom prst="rect">
            <a:avLst/>
          </a:prstGeom>
        </p:spPr>
      </p:pic>
      <p:pic>
        <p:nvPicPr>
          <p:cNvPr id="3" name="Scrim scrim_full_dark" descr="Gradient scrim">    </p:cNvPr>
          <p:cNvPicPr>
            <a:picLocks noChangeAspect="1"/>
          </p:cNvPicPr>
          <p:nvPr/>
        </p:nvPicPr>
        <p:blipFill>
          <a:blip r:embed="rId2"/>
          <a:stretch>
            <a:fillRect/>
          </a:stretch>
        </p:blipFill>
        <p:spPr>
          <a:xfrm>
            <a:off x="0" y="0"/>
            <a:ext cx="4876678" cy="6858000"/>
          </a:xfrm>
          <a:prstGeom prst="rect">
            <a:avLst/>
          </a:prstGeom>
        </p:spPr>
      </p:pic>
      <p:sp>
        <p:nvSpPr>
          <p:cNvPr id="4" name="Photo slot label 06-pillar-1"/>
          <p:cNvSpPr txBox="1"/>
          <p:nvPr/>
        </p:nvSpPr>
        <p:spPr>
          <a:xfrm>
            <a:off x="228600" y="274320"/>
            <a:ext cx="4419478"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06-PILLAR-1 : ROASTERY WITH BURLAP SACKS</a:t>
            </a:r>
            <a:endParaRPr lang="en-US" sz="900" dirty="0"/>
          </a:p>
        </p:txBody>
      </p:sp>
      <p:sp>
        <p:nvSpPr>
          <p:cNvPr id="5" name="Eyebrow: Pillar 01"/>
          <p:cNvSpPr txBox="1"/>
          <p:nvPr/>
        </p:nvSpPr>
        <p:spPr>
          <a:xfrm>
            <a:off x="822960" y="77724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PILLAR 01</a:t>
            </a:r>
            <a:endParaRPr lang="en-US" sz="1200" dirty="0"/>
          </a:p>
        </p:txBody>
      </p:sp>
      <p:sp>
        <p:nvSpPr>
          <p:cNvPr id="6" name="Title"/>
          <p:cNvSpPr txBox="1"/>
          <p:nvPr/>
        </p:nvSpPr>
        <p:spPr>
          <a:xfrm>
            <a:off x="822960" y="1051560"/>
            <a:ext cx="3505078" cy="1737360"/>
          </a:xfrm>
          <a:prstGeom prst="rect">
            <a:avLst/>
          </a:prstGeom>
          <a:noFill/>
          <a:ln/>
        </p:spPr>
        <p:txBody>
          <a:bodyPr wrap="square" lIns="0" tIns="0" rIns="0" bIns="0" rtlCol="0" anchor="t"/>
          <a:lstStyle/>
          <a:p>
            <a:pPr indent="0" marL="0">
              <a:lnSpc>
                <a:spcPct val="100000"/>
              </a:lnSpc>
              <a:buNone/>
            </a:pPr>
            <a:r>
              <a:rPr lang="en-US" sz="4000" dirty="0">
                <a:solidFill>
                  <a:schemeClr val="bg1"/>
                </a:solidFill>
                <a:latin typeface="+mj-lt" pitchFamily="34" charset="0"/>
                <a:ea typeface="+mj-lt" pitchFamily="34" charset="-122"/>
                <a:cs typeface="+mj-lt" pitchFamily="34" charset="-120"/>
              </a:rPr>
              <a:t>Fix &amp; modernise Al Shami</a:t>
            </a:r>
            <a:endParaRPr lang="en-US" sz="4000" dirty="0"/>
          </a:p>
        </p:txBody>
      </p:sp>
      <p:sp>
        <p:nvSpPr>
          <p:cNvPr id="7" name="Eyebrow: Ambition"/>
          <p:cNvSpPr txBox="1"/>
          <p:nvPr/>
        </p:nvSpPr>
        <p:spPr>
          <a:xfrm>
            <a:off x="822960" y="356616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AMBITION</a:t>
            </a:r>
            <a:endParaRPr lang="en-US" sz="1200" dirty="0"/>
          </a:p>
        </p:txBody>
      </p:sp>
      <p:sp>
        <p:nvSpPr>
          <p:cNvPr id="8" name="Ambition"/>
          <p:cNvSpPr txBox="1"/>
          <p:nvPr/>
        </p:nvSpPr>
        <p:spPr>
          <a:xfrm>
            <a:off x="822960" y="3858768"/>
            <a:ext cx="3505078" cy="1234440"/>
          </a:xfrm>
          <a:prstGeom prst="rect">
            <a:avLst/>
          </a:prstGeom>
          <a:noFill/>
          <a:ln/>
        </p:spPr>
        <p:txBody>
          <a:bodyPr wrap="square" lIns="0" tIns="0" rIns="0" bIns="0" rtlCol="0" anchor="t"/>
          <a:lstStyle/>
          <a:p>
            <a:pPr indent="0" marL="0">
              <a:lnSpc>
                <a:spcPct val="125000"/>
              </a:lnSpc>
              <a:buNone/>
            </a:pPr>
            <a:r>
              <a:rPr lang="en-US" sz="1500" dirty="0">
                <a:solidFill>
                  <a:schemeClr val="accent4"/>
                </a:solidFill>
                <a:latin typeface="+mn-lt" pitchFamily="34" charset="0"/>
                <a:ea typeface="+mn-lt" pitchFamily="34" charset="-122"/>
                <a:cs typeface="+mn-lt" pitchFamily="34" charset="-120"/>
              </a:rPr>
              <a:t>Build on grab &amp; go and the modernisation already started: a proud Middle East brand with CSR at its heart.</a:t>
            </a:r>
            <a:endParaRPr lang="en-US" sz="1500" dirty="0"/>
          </a:p>
        </p:txBody>
      </p:sp>
      <p:sp>
        <p:nvSpPr>
          <p:cNvPr id="9" name="Eyebrow: Outcome"/>
          <p:cNvSpPr txBox="1"/>
          <p:nvPr/>
        </p:nvSpPr>
        <p:spPr>
          <a:xfrm>
            <a:off x="822960" y="5138928"/>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OUTCOME</a:t>
            </a:r>
            <a:endParaRPr lang="en-US" sz="1200" dirty="0"/>
          </a:p>
        </p:txBody>
      </p:sp>
      <p:sp>
        <p:nvSpPr>
          <p:cNvPr id="10" name="Outcome"/>
          <p:cNvSpPr txBox="1"/>
          <p:nvPr/>
        </p:nvSpPr>
        <p:spPr>
          <a:xfrm>
            <a:off x="822960" y="5431536"/>
            <a:ext cx="3505078" cy="685800"/>
          </a:xfrm>
          <a:prstGeom prst="rect">
            <a:avLst/>
          </a:prstGeom>
          <a:noFill/>
          <a:ln/>
        </p:spPr>
        <p:txBody>
          <a:bodyPr wrap="square" lIns="0" tIns="0" rIns="0" bIns="0" rtlCol="0" anchor="t"/>
          <a:lstStyle/>
          <a:p>
            <a:pPr indent="0" marL="0">
              <a:lnSpc>
                <a:spcPct val="125000"/>
              </a:lnSpc>
              <a:buNone/>
            </a:pPr>
            <a:r>
              <a:rPr lang="en-US" sz="1500" dirty="0">
                <a:solidFill>
                  <a:schemeClr val="bg1"/>
                </a:solidFill>
                <a:latin typeface="+mn-lt" pitchFamily="34" charset="0"/>
                <a:ea typeface="+mn-lt" pitchFamily="34" charset="-122"/>
                <a:cs typeface="+mn-lt" pitchFamily="34" charset="-120"/>
              </a:rPr>
              <a:t>A modern Al Shami, ready to grow across the region</a:t>
            </a:r>
            <a:endParaRPr lang="en-US" sz="1500" dirty="0"/>
          </a:p>
        </p:txBody>
      </p:sp>
      <p:sp>
        <p:nvSpPr>
          <p:cNvPr id="11" name="Eyebrow: Workstreams"/>
          <p:cNvSpPr txBox="1"/>
          <p:nvPr/>
        </p:nvSpPr>
        <p:spPr>
          <a:xfrm>
            <a:off x="5562478" y="777240"/>
            <a:ext cx="5806257"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WORKSTREAMS</a:t>
            </a:r>
            <a:endParaRPr lang="en-US" sz="1200" dirty="0"/>
          </a:p>
        </p:txBody>
      </p:sp>
      <p:sp>
        <p:nvSpPr>
          <p:cNvPr id="12" name="Hairline"/>
          <p:cNvSpPr/>
          <p:nvPr/>
        </p:nvSpPr>
        <p:spPr>
          <a:xfrm>
            <a:off x="5562478" y="1234440"/>
            <a:ext cx="5806257" cy="0"/>
          </a:xfrm>
          <a:prstGeom prst="line">
            <a:avLst/>
          </a:prstGeom>
          <a:noFill/>
          <a:ln w="9525">
            <a:solidFill>
              <a:schemeClr val="accent6"/>
            </a:solidFill>
            <a:prstDash val="solid"/>
          </a:ln>
        </p:spPr>
      </p:sp>
      <p:sp>
        <p:nvSpPr>
          <p:cNvPr id="13" name="Workstream label 1"/>
          <p:cNvSpPr txBox="1"/>
          <p:nvPr/>
        </p:nvSpPr>
        <p:spPr>
          <a:xfrm>
            <a:off x="5562478" y="138988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BRAND &amp; MARKETING</a:t>
            </a:r>
            <a:endParaRPr lang="en-US" sz="1100" dirty="0"/>
          </a:p>
        </p:txBody>
      </p:sp>
      <p:sp>
        <p:nvSpPr>
          <p:cNvPr id="14" name="Workstream action 1"/>
          <p:cNvSpPr txBox="1"/>
          <p:nvPr/>
        </p:nvSpPr>
        <p:spPr>
          <a:xfrm>
            <a:off x="7345558" y="136245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Refresh identity, packaging and story; build a digital presence</a:t>
            </a:r>
            <a:endParaRPr lang="en-US" sz="1500" dirty="0"/>
          </a:p>
        </p:txBody>
      </p:sp>
      <p:sp>
        <p:nvSpPr>
          <p:cNvPr id="15" name="Hairline"/>
          <p:cNvSpPr/>
          <p:nvPr/>
        </p:nvSpPr>
        <p:spPr>
          <a:xfrm>
            <a:off x="5562478" y="1984248"/>
            <a:ext cx="5806257" cy="0"/>
          </a:xfrm>
          <a:prstGeom prst="line">
            <a:avLst/>
          </a:prstGeom>
          <a:noFill/>
          <a:ln w="9525">
            <a:solidFill>
              <a:schemeClr val="accent6"/>
            </a:solidFill>
            <a:prstDash val="solid"/>
          </a:ln>
        </p:spPr>
      </p:sp>
      <p:sp>
        <p:nvSpPr>
          <p:cNvPr id="16" name="Workstream label 2"/>
          <p:cNvSpPr txBox="1"/>
          <p:nvPr/>
        </p:nvSpPr>
        <p:spPr>
          <a:xfrm>
            <a:off x="5562478" y="2139696"/>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CONCEPT</a:t>
            </a:r>
            <a:endParaRPr lang="en-US" sz="1100" dirty="0"/>
          </a:p>
        </p:txBody>
      </p:sp>
      <p:sp>
        <p:nvSpPr>
          <p:cNvPr id="17" name="Workstream action 2"/>
          <p:cNvSpPr txBox="1"/>
          <p:nvPr/>
        </p:nvSpPr>
        <p:spPr>
          <a:xfrm>
            <a:off x="7345558" y="2112264"/>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Turn grab &amp; go into a repeatable format: kiosk, cafe, retail shelf</a:t>
            </a:r>
            <a:endParaRPr lang="en-US" sz="1500" dirty="0"/>
          </a:p>
        </p:txBody>
      </p:sp>
      <p:sp>
        <p:nvSpPr>
          <p:cNvPr id="18" name="Hairline"/>
          <p:cNvSpPr/>
          <p:nvPr/>
        </p:nvSpPr>
        <p:spPr>
          <a:xfrm>
            <a:off x="5562478" y="2734056"/>
            <a:ext cx="5806257" cy="0"/>
          </a:xfrm>
          <a:prstGeom prst="line">
            <a:avLst/>
          </a:prstGeom>
          <a:noFill/>
          <a:ln w="9525">
            <a:solidFill>
              <a:schemeClr val="accent6"/>
            </a:solidFill>
            <a:prstDash val="solid"/>
          </a:ln>
        </p:spPr>
      </p:sp>
      <p:sp>
        <p:nvSpPr>
          <p:cNvPr id="19" name="Workstream label 3"/>
          <p:cNvSpPr txBox="1"/>
          <p:nvPr/>
        </p:nvSpPr>
        <p:spPr>
          <a:xfrm>
            <a:off x="5562478" y="2889504"/>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OPERATIONS</a:t>
            </a:r>
            <a:endParaRPr lang="en-US" sz="1100" dirty="0"/>
          </a:p>
        </p:txBody>
      </p:sp>
      <p:sp>
        <p:nvSpPr>
          <p:cNvPr id="20" name="Workstream action 3"/>
          <p:cNvSpPr txBox="1"/>
          <p:nvPr/>
        </p:nvSpPr>
        <p:spPr>
          <a:xfrm>
            <a:off x="7345558" y="2862072"/>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SOPs, roasting consistency, quality control and supply chain</a:t>
            </a:r>
            <a:endParaRPr lang="en-US" sz="1500" dirty="0"/>
          </a:p>
        </p:txBody>
      </p:sp>
      <p:sp>
        <p:nvSpPr>
          <p:cNvPr id="21" name="Hairline"/>
          <p:cNvSpPr/>
          <p:nvPr/>
        </p:nvSpPr>
        <p:spPr>
          <a:xfrm>
            <a:off x="5562478" y="3483864"/>
            <a:ext cx="5806257" cy="0"/>
          </a:xfrm>
          <a:prstGeom prst="line">
            <a:avLst/>
          </a:prstGeom>
          <a:noFill/>
          <a:ln w="9525">
            <a:solidFill>
              <a:schemeClr val="accent6"/>
            </a:solidFill>
            <a:prstDash val="solid"/>
          </a:ln>
        </p:spPr>
      </p:sp>
      <p:sp>
        <p:nvSpPr>
          <p:cNvPr id="22" name="Workstream label 4"/>
          <p:cNvSpPr txBox="1"/>
          <p:nvPr/>
        </p:nvSpPr>
        <p:spPr>
          <a:xfrm>
            <a:off x="5562478" y="3639312"/>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PEOPLE</a:t>
            </a:r>
            <a:endParaRPr lang="en-US" sz="1100" dirty="0"/>
          </a:p>
        </p:txBody>
      </p:sp>
      <p:sp>
        <p:nvSpPr>
          <p:cNvPr id="23" name="Workstream action 4"/>
          <p:cNvSpPr txBox="1"/>
          <p:nvPr/>
        </p:nvSpPr>
        <p:spPr>
          <a:xfrm>
            <a:off x="7345558" y="3611880"/>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Key hires, a training academy and service standards</a:t>
            </a:r>
            <a:endParaRPr lang="en-US" sz="1500" dirty="0"/>
          </a:p>
        </p:txBody>
      </p:sp>
      <p:sp>
        <p:nvSpPr>
          <p:cNvPr id="24" name="Hairline"/>
          <p:cNvSpPr/>
          <p:nvPr/>
        </p:nvSpPr>
        <p:spPr>
          <a:xfrm>
            <a:off x="5562478" y="4233672"/>
            <a:ext cx="5806257" cy="0"/>
          </a:xfrm>
          <a:prstGeom prst="line">
            <a:avLst/>
          </a:prstGeom>
          <a:noFill/>
          <a:ln w="9525">
            <a:solidFill>
              <a:schemeClr val="accent6"/>
            </a:solidFill>
            <a:prstDash val="solid"/>
          </a:ln>
        </p:spPr>
      </p:sp>
      <p:sp>
        <p:nvSpPr>
          <p:cNvPr id="25" name="Workstream label 5"/>
          <p:cNvSpPr txBox="1"/>
          <p:nvPr/>
        </p:nvSpPr>
        <p:spPr>
          <a:xfrm>
            <a:off x="5562478" y="4389120"/>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BUILD</a:t>
            </a:r>
            <a:endParaRPr lang="en-US" sz="1100" dirty="0"/>
          </a:p>
        </p:txBody>
      </p:sp>
      <p:sp>
        <p:nvSpPr>
          <p:cNvPr id="26" name="Workstream action 5"/>
          <p:cNvSpPr txBox="1"/>
          <p:nvPr/>
        </p:nvSpPr>
        <p:spPr>
          <a:xfrm>
            <a:off x="7345558" y="4361688"/>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Store design standards, retail and e‑commerce channels</a:t>
            </a:r>
            <a:endParaRPr lang="en-US" sz="1500" dirty="0"/>
          </a:p>
        </p:txBody>
      </p:sp>
      <p:sp>
        <p:nvSpPr>
          <p:cNvPr id="27" name="Hairline"/>
          <p:cNvSpPr/>
          <p:nvPr/>
        </p:nvSpPr>
        <p:spPr>
          <a:xfrm>
            <a:off x="5562478" y="4983480"/>
            <a:ext cx="5806257" cy="0"/>
          </a:xfrm>
          <a:prstGeom prst="line">
            <a:avLst/>
          </a:prstGeom>
          <a:noFill/>
          <a:ln w="9525">
            <a:solidFill>
              <a:schemeClr val="accent6"/>
            </a:solidFill>
            <a:prstDash val="solid"/>
          </a:ln>
        </p:spPr>
      </p:sp>
      <p:sp>
        <p:nvSpPr>
          <p:cNvPr id="28" name="Workstream label 6"/>
          <p:cNvSpPr txBox="1"/>
          <p:nvPr/>
        </p:nvSpPr>
        <p:spPr>
          <a:xfrm>
            <a:off x="5562478" y="513892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IMPACT (CSR)</a:t>
            </a:r>
            <a:endParaRPr lang="en-US" sz="1100" dirty="0"/>
          </a:p>
        </p:txBody>
      </p:sp>
      <p:sp>
        <p:nvSpPr>
          <p:cNvPr id="29" name="Workstream action 6"/>
          <p:cNvSpPr txBox="1"/>
          <p:nvPr/>
        </p:nvSpPr>
        <p:spPr>
          <a:xfrm>
            <a:off x="7345558" y="511149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Ethical sourcing and community programs that carry the name</a:t>
            </a:r>
            <a:endParaRPr lang="en-US" sz="1500" dirty="0"/>
          </a:p>
        </p:txBody>
      </p:sp>
      <p:sp>
        <p:nvSpPr>
          <p:cNvPr id="30" name="Hairline"/>
          <p:cNvSpPr/>
          <p:nvPr/>
        </p:nvSpPr>
        <p:spPr>
          <a:xfrm>
            <a:off x="5562478" y="5733288"/>
            <a:ext cx="5806257" cy="0"/>
          </a:xfrm>
          <a:prstGeom prst="line">
            <a:avLst/>
          </a:prstGeom>
          <a:noFill/>
          <a:ln w="9525">
            <a:solidFill>
              <a:schemeClr val="accent6"/>
            </a:solidFill>
            <a:prstDash val="solid"/>
          </a:ln>
        </p:spPr>
      </p:sp>
      <p:sp>
        <p:nvSpPr>
          <p:cNvPr id="31" name="Footer"/>
          <p:cNvSpPr txBox="1"/>
          <p:nvPr/>
        </p:nvSpPr>
        <p:spPr>
          <a:xfrm>
            <a:off x="5562478"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hoto 07-pillar-2" descr="Chef plating at a pass">    </p:cNvPr>
          <p:cNvPicPr>
            <a:picLocks noChangeAspect="1"/>
          </p:cNvPicPr>
          <p:nvPr/>
        </p:nvPicPr>
        <p:blipFill>
          <a:blip r:embed="rId1"/>
          <a:srcRect l="0" r="0" t="0" b="0"/>
          <a:stretch/>
        </p:blipFill>
        <p:spPr>
          <a:xfrm>
            <a:off x="0" y="0"/>
            <a:ext cx="4876678" cy="6858000"/>
          </a:xfrm>
          <a:prstGeom prst="rect">
            <a:avLst/>
          </a:prstGeom>
        </p:spPr>
      </p:pic>
      <p:pic>
        <p:nvPicPr>
          <p:cNvPr id="3" name="Scrim scrim_full_dark" descr="Gradient scrim">    </p:cNvPr>
          <p:cNvPicPr>
            <a:picLocks noChangeAspect="1"/>
          </p:cNvPicPr>
          <p:nvPr/>
        </p:nvPicPr>
        <p:blipFill>
          <a:blip r:embed="rId2"/>
          <a:stretch>
            <a:fillRect/>
          </a:stretch>
        </p:blipFill>
        <p:spPr>
          <a:xfrm>
            <a:off x="0" y="0"/>
            <a:ext cx="4876678" cy="6858000"/>
          </a:xfrm>
          <a:prstGeom prst="rect">
            <a:avLst/>
          </a:prstGeom>
        </p:spPr>
      </p:pic>
      <p:sp>
        <p:nvSpPr>
          <p:cNvPr id="4" name="Photo slot label 07-pillar-2"/>
          <p:cNvSpPr txBox="1"/>
          <p:nvPr/>
        </p:nvSpPr>
        <p:spPr>
          <a:xfrm>
            <a:off x="228600" y="274320"/>
            <a:ext cx="4419478"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07-PILLAR-2 : CHEF PLATING AT A PASS</a:t>
            </a:r>
            <a:endParaRPr lang="en-US" sz="900" dirty="0"/>
          </a:p>
        </p:txBody>
      </p:sp>
      <p:sp>
        <p:nvSpPr>
          <p:cNvPr id="5" name="Eyebrow: Pillar 02"/>
          <p:cNvSpPr txBox="1"/>
          <p:nvPr/>
        </p:nvSpPr>
        <p:spPr>
          <a:xfrm>
            <a:off x="822960" y="77724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PILLAR 02</a:t>
            </a:r>
            <a:endParaRPr lang="en-US" sz="1200" dirty="0"/>
          </a:p>
        </p:txBody>
      </p:sp>
      <p:sp>
        <p:nvSpPr>
          <p:cNvPr id="6" name="Title"/>
          <p:cNvSpPr txBox="1"/>
          <p:nvPr/>
        </p:nvSpPr>
        <p:spPr>
          <a:xfrm>
            <a:off x="822960" y="1051560"/>
            <a:ext cx="3505078" cy="1737360"/>
          </a:xfrm>
          <a:prstGeom prst="rect">
            <a:avLst/>
          </a:prstGeom>
          <a:noFill/>
          <a:ln/>
        </p:spPr>
        <p:txBody>
          <a:bodyPr wrap="square" lIns="0" tIns="0" rIns="0" bIns="0" rtlCol="0" anchor="t"/>
          <a:lstStyle/>
          <a:p>
            <a:pPr indent="0" marL="0">
              <a:lnSpc>
                <a:spcPct val="100000"/>
              </a:lnSpc>
              <a:buNone/>
            </a:pPr>
            <a:r>
              <a:rPr lang="en-US" sz="4000" dirty="0">
                <a:solidFill>
                  <a:schemeClr val="bg1"/>
                </a:solidFill>
                <a:latin typeface="+mj-lt" pitchFamily="34" charset="0"/>
                <a:ea typeface="+mj-lt" pitchFamily="34" charset="-122"/>
                <a:cs typeface="+mj-lt" pitchFamily="34" charset="-120"/>
              </a:rPr>
              <a:t>New concept creation</a:t>
            </a:r>
            <a:endParaRPr lang="en-US" sz="4000" dirty="0"/>
          </a:p>
        </p:txBody>
      </p:sp>
      <p:sp>
        <p:nvSpPr>
          <p:cNvPr id="7" name="Eyebrow: Ambition"/>
          <p:cNvSpPr txBox="1"/>
          <p:nvPr/>
        </p:nvSpPr>
        <p:spPr>
          <a:xfrm>
            <a:off x="822960" y="356616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AMBITION</a:t>
            </a:r>
            <a:endParaRPr lang="en-US" sz="1200" dirty="0"/>
          </a:p>
        </p:txBody>
      </p:sp>
      <p:sp>
        <p:nvSpPr>
          <p:cNvPr id="8" name="Ambition"/>
          <p:cNvSpPr txBox="1"/>
          <p:nvPr/>
        </p:nvSpPr>
        <p:spPr>
          <a:xfrm>
            <a:off x="822960" y="3858768"/>
            <a:ext cx="3505078" cy="1234440"/>
          </a:xfrm>
          <a:prstGeom prst="rect">
            <a:avLst/>
          </a:prstGeom>
          <a:noFill/>
          <a:ln/>
        </p:spPr>
        <p:txBody>
          <a:bodyPr wrap="square" lIns="0" tIns="0" rIns="0" bIns="0" rtlCol="0" anchor="t"/>
          <a:lstStyle/>
          <a:p>
            <a:pPr indent="0" marL="0">
              <a:lnSpc>
                <a:spcPct val="125000"/>
              </a:lnSpc>
              <a:buNone/>
            </a:pPr>
            <a:r>
              <a:rPr lang="en-US" sz="1500" dirty="0">
                <a:solidFill>
                  <a:schemeClr val="accent4"/>
                </a:solidFill>
                <a:latin typeface="+mn-lt" pitchFamily="34" charset="0"/>
                <a:ea typeface="+mn-lt" pitchFamily="34" charset="-122"/>
                <a:cs typeface="+mn-lt" pitchFamily="34" charset="-120"/>
              </a:rPr>
              <a:t>New F&amp;B brands that diversify revenue, use Al Shami’s strengths and open new markets.</a:t>
            </a:r>
            <a:endParaRPr lang="en-US" sz="1500" dirty="0"/>
          </a:p>
        </p:txBody>
      </p:sp>
      <p:sp>
        <p:nvSpPr>
          <p:cNvPr id="9" name="Eyebrow: Outcome"/>
          <p:cNvSpPr txBox="1"/>
          <p:nvPr/>
        </p:nvSpPr>
        <p:spPr>
          <a:xfrm>
            <a:off x="822960" y="5138928"/>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OUTCOME</a:t>
            </a:r>
            <a:endParaRPr lang="en-US" sz="1200" dirty="0"/>
          </a:p>
        </p:txBody>
      </p:sp>
      <p:sp>
        <p:nvSpPr>
          <p:cNvPr id="10" name="Outcome"/>
          <p:cNvSpPr txBox="1"/>
          <p:nvPr/>
        </p:nvSpPr>
        <p:spPr>
          <a:xfrm>
            <a:off x="822960" y="5431536"/>
            <a:ext cx="3505078" cy="685800"/>
          </a:xfrm>
          <a:prstGeom prst="rect">
            <a:avLst/>
          </a:prstGeom>
          <a:noFill/>
          <a:ln/>
        </p:spPr>
        <p:txBody>
          <a:bodyPr wrap="square" lIns="0" tIns="0" rIns="0" bIns="0" rtlCol="0" anchor="t"/>
          <a:lstStyle/>
          <a:p>
            <a:pPr indent="0" marL="0">
              <a:lnSpc>
                <a:spcPct val="125000"/>
              </a:lnSpc>
              <a:buNone/>
            </a:pPr>
            <a:r>
              <a:rPr lang="en-US" sz="1500" dirty="0">
                <a:solidFill>
                  <a:schemeClr val="bg1"/>
                </a:solidFill>
                <a:latin typeface="+mn-lt" pitchFamily="34" charset="0"/>
                <a:ea typeface="+mn-lt" pitchFamily="34" charset="-122"/>
                <a:cs typeface="+mn-lt" pitchFamily="34" charset="-120"/>
              </a:rPr>
              <a:t>[2-3] proven concepts, ready to scale</a:t>
            </a:r>
            <a:endParaRPr lang="en-US" sz="1500" dirty="0"/>
          </a:p>
        </p:txBody>
      </p:sp>
      <p:sp>
        <p:nvSpPr>
          <p:cNvPr id="11" name="Eyebrow: Workstreams"/>
          <p:cNvSpPr txBox="1"/>
          <p:nvPr/>
        </p:nvSpPr>
        <p:spPr>
          <a:xfrm>
            <a:off x="5562478" y="777240"/>
            <a:ext cx="5806257"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WORKSTREAMS</a:t>
            </a:r>
            <a:endParaRPr lang="en-US" sz="1200" dirty="0"/>
          </a:p>
        </p:txBody>
      </p:sp>
      <p:sp>
        <p:nvSpPr>
          <p:cNvPr id="12" name="Hairline"/>
          <p:cNvSpPr/>
          <p:nvPr/>
        </p:nvSpPr>
        <p:spPr>
          <a:xfrm>
            <a:off x="5562478" y="1234440"/>
            <a:ext cx="5806257" cy="0"/>
          </a:xfrm>
          <a:prstGeom prst="line">
            <a:avLst/>
          </a:prstGeom>
          <a:noFill/>
          <a:ln w="9525">
            <a:solidFill>
              <a:schemeClr val="accent6"/>
            </a:solidFill>
            <a:prstDash val="solid"/>
          </a:ln>
        </p:spPr>
      </p:sp>
      <p:sp>
        <p:nvSpPr>
          <p:cNvPr id="13" name="Workstream label 1"/>
          <p:cNvSpPr txBox="1"/>
          <p:nvPr/>
        </p:nvSpPr>
        <p:spPr>
          <a:xfrm>
            <a:off x="5562478" y="138988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CONCEPT</a:t>
            </a:r>
            <a:endParaRPr lang="en-US" sz="1100" dirty="0"/>
          </a:p>
        </p:txBody>
      </p:sp>
      <p:sp>
        <p:nvSpPr>
          <p:cNvPr id="14" name="Workstream action 1"/>
          <p:cNvSpPr txBox="1"/>
          <p:nvPr/>
        </p:nvSpPr>
        <p:spPr>
          <a:xfrm>
            <a:off x="7345558" y="136245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Spot market gaps; design concepts, menus and guest experiences</a:t>
            </a:r>
            <a:endParaRPr lang="en-US" sz="1500" dirty="0"/>
          </a:p>
        </p:txBody>
      </p:sp>
      <p:sp>
        <p:nvSpPr>
          <p:cNvPr id="15" name="Hairline"/>
          <p:cNvSpPr/>
          <p:nvPr/>
        </p:nvSpPr>
        <p:spPr>
          <a:xfrm>
            <a:off x="5562478" y="1984248"/>
            <a:ext cx="5806257" cy="0"/>
          </a:xfrm>
          <a:prstGeom prst="line">
            <a:avLst/>
          </a:prstGeom>
          <a:noFill/>
          <a:ln w="9525">
            <a:solidFill>
              <a:schemeClr val="accent6"/>
            </a:solidFill>
            <a:prstDash val="solid"/>
          </a:ln>
        </p:spPr>
      </p:sp>
      <p:sp>
        <p:nvSpPr>
          <p:cNvPr id="16" name="Workstream label 2"/>
          <p:cNvSpPr txBox="1"/>
          <p:nvPr/>
        </p:nvSpPr>
        <p:spPr>
          <a:xfrm>
            <a:off x="5562478" y="2139696"/>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BRAND &amp; MARKETING</a:t>
            </a:r>
            <a:endParaRPr lang="en-US" sz="1100" dirty="0"/>
          </a:p>
        </p:txBody>
      </p:sp>
      <p:sp>
        <p:nvSpPr>
          <p:cNvPr id="17" name="Workstream action 2"/>
          <p:cNvSpPr txBox="1"/>
          <p:nvPr/>
        </p:nvSpPr>
        <p:spPr>
          <a:xfrm>
            <a:off x="7345558" y="2112264"/>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Naming, identity and launch campaigns for each concept</a:t>
            </a:r>
            <a:endParaRPr lang="en-US" sz="1500" dirty="0"/>
          </a:p>
        </p:txBody>
      </p:sp>
      <p:sp>
        <p:nvSpPr>
          <p:cNvPr id="18" name="Hairline"/>
          <p:cNvSpPr/>
          <p:nvPr/>
        </p:nvSpPr>
        <p:spPr>
          <a:xfrm>
            <a:off x="5562478" y="2734056"/>
            <a:ext cx="5806257" cy="0"/>
          </a:xfrm>
          <a:prstGeom prst="line">
            <a:avLst/>
          </a:prstGeom>
          <a:noFill/>
          <a:ln w="9525">
            <a:solidFill>
              <a:schemeClr val="accent6"/>
            </a:solidFill>
            <a:prstDash val="solid"/>
          </a:ln>
        </p:spPr>
      </p:sp>
      <p:sp>
        <p:nvSpPr>
          <p:cNvPr id="19" name="Workstream label 3"/>
          <p:cNvSpPr txBox="1"/>
          <p:nvPr/>
        </p:nvSpPr>
        <p:spPr>
          <a:xfrm>
            <a:off x="5562478" y="2889504"/>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OPERATIONS</a:t>
            </a:r>
            <a:endParaRPr lang="en-US" sz="1100" dirty="0"/>
          </a:p>
        </p:txBody>
      </p:sp>
      <p:sp>
        <p:nvSpPr>
          <p:cNvPr id="20" name="Workstream action 3"/>
          <p:cNvSpPr txBox="1"/>
          <p:nvPr/>
        </p:nvSpPr>
        <p:spPr>
          <a:xfrm>
            <a:off x="7345558" y="2862072"/>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Kitchen design, SOPs and a shared supplier network</a:t>
            </a:r>
            <a:endParaRPr lang="en-US" sz="1500" dirty="0"/>
          </a:p>
        </p:txBody>
      </p:sp>
      <p:sp>
        <p:nvSpPr>
          <p:cNvPr id="21" name="Hairline"/>
          <p:cNvSpPr/>
          <p:nvPr/>
        </p:nvSpPr>
        <p:spPr>
          <a:xfrm>
            <a:off x="5562478" y="3483864"/>
            <a:ext cx="5806257" cy="0"/>
          </a:xfrm>
          <a:prstGeom prst="line">
            <a:avLst/>
          </a:prstGeom>
          <a:noFill/>
          <a:ln w="9525">
            <a:solidFill>
              <a:schemeClr val="accent6"/>
            </a:solidFill>
            <a:prstDash val="solid"/>
          </a:ln>
        </p:spPr>
      </p:sp>
      <p:sp>
        <p:nvSpPr>
          <p:cNvPr id="22" name="Workstream label 4"/>
          <p:cNvSpPr txBox="1"/>
          <p:nvPr/>
        </p:nvSpPr>
        <p:spPr>
          <a:xfrm>
            <a:off x="5562478" y="3639312"/>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PEOPLE</a:t>
            </a:r>
            <a:endParaRPr lang="en-US" sz="1100" dirty="0"/>
          </a:p>
        </p:txBody>
      </p:sp>
      <p:sp>
        <p:nvSpPr>
          <p:cNvPr id="23" name="Workstream action 4"/>
          <p:cNvSpPr txBox="1"/>
          <p:nvPr/>
        </p:nvSpPr>
        <p:spPr>
          <a:xfrm>
            <a:off x="7345558" y="3611880"/>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Hire chefs and GMs; train every team to one standard</a:t>
            </a:r>
            <a:endParaRPr lang="en-US" sz="1500" dirty="0"/>
          </a:p>
        </p:txBody>
      </p:sp>
      <p:sp>
        <p:nvSpPr>
          <p:cNvPr id="24" name="Hairline"/>
          <p:cNvSpPr/>
          <p:nvPr/>
        </p:nvSpPr>
        <p:spPr>
          <a:xfrm>
            <a:off x="5562478" y="4233672"/>
            <a:ext cx="5806257" cy="0"/>
          </a:xfrm>
          <a:prstGeom prst="line">
            <a:avLst/>
          </a:prstGeom>
          <a:noFill/>
          <a:ln w="9525">
            <a:solidFill>
              <a:schemeClr val="accent6"/>
            </a:solidFill>
            <a:prstDash val="solid"/>
          </a:ln>
        </p:spPr>
      </p:sp>
      <p:sp>
        <p:nvSpPr>
          <p:cNvPr id="25" name="Workstream label 5"/>
          <p:cNvSpPr txBox="1"/>
          <p:nvPr/>
        </p:nvSpPr>
        <p:spPr>
          <a:xfrm>
            <a:off x="5562478" y="4389120"/>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BUILD</a:t>
            </a:r>
            <a:endParaRPr lang="en-US" sz="1100" dirty="0"/>
          </a:p>
        </p:txBody>
      </p:sp>
      <p:sp>
        <p:nvSpPr>
          <p:cNvPr id="26" name="Workstream action 5"/>
          <p:cNvSpPr txBox="1"/>
          <p:nvPr/>
        </p:nvSpPr>
        <p:spPr>
          <a:xfrm>
            <a:off x="7345558" y="4361688"/>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Site selection, design, fit-out and a pilot location</a:t>
            </a:r>
            <a:endParaRPr lang="en-US" sz="1500" dirty="0"/>
          </a:p>
        </p:txBody>
      </p:sp>
      <p:sp>
        <p:nvSpPr>
          <p:cNvPr id="27" name="Hairline"/>
          <p:cNvSpPr/>
          <p:nvPr/>
        </p:nvSpPr>
        <p:spPr>
          <a:xfrm>
            <a:off x="5562478" y="4983480"/>
            <a:ext cx="5806257" cy="0"/>
          </a:xfrm>
          <a:prstGeom prst="line">
            <a:avLst/>
          </a:prstGeom>
          <a:noFill/>
          <a:ln w="9525">
            <a:solidFill>
              <a:schemeClr val="accent6"/>
            </a:solidFill>
            <a:prstDash val="solid"/>
          </a:ln>
        </p:spPr>
      </p:sp>
      <p:sp>
        <p:nvSpPr>
          <p:cNvPr id="28" name="Workstream label 6"/>
          <p:cNvSpPr txBox="1"/>
          <p:nvPr/>
        </p:nvSpPr>
        <p:spPr>
          <a:xfrm>
            <a:off x="5562478" y="513892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EXECUTION</a:t>
            </a:r>
            <a:endParaRPr lang="en-US" sz="1100" dirty="0"/>
          </a:p>
        </p:txBody>
      </p:sp>
      <p:sp>
        <p:nvSpPr>
          <p:cNvPr id="29" name="Workstream action 6"/>
          <p:cNvSpPr txBox="1"/>
          <p:nvPr/>
        </p:nvSpPr>
        <p:spPr>
          <a:xfrm>
            <a:off x="7345558" y="511149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Stage gates: test, learn, then scale or stop</a:t>
            </a:r>
            <a:endParaRPr lang="en-US" sz="1500" dirty="0"/>
          </a:p>
        </p:txBody>
      </p:sp>
      <p:sp>
        <p:nvSpPr>
          <p:cNvPr id="30" name="Hairline"/>
          <p:cNvSpPr/>
          <p:nvPr/>
        </p:nvSpPr>
        <p:spPr>
          <a:xfrm>
            <a:off x="5562478" y="5733288"/>
            <a:ext cx="5806257" cy="0"/>
          </a:xfrm>
          <a:prstGeom prst="line">
            <a:avLst/>
          </a:prstGeom>
          <a:noFill/>
          <a:ln w="9525">
            <a:solidFill>
              <a:schemeClr val="accent6"/>
            </a:solidFill>
            <a:prstDash val="solid"/>
          </a:ln>
        </p:spPr>
      </p:sp>
      <p:sp>
        <p:nvSpPr>
          <p:cNvPr id="31" name="Footer"/>
          <p:cNvSpPr txBox="1"/>
          <p:nvPr/>
        </p:nvSpPr>
        <p:spPr>
          <a:xfrm>
            <a:off x="5562478"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hoto 08-pillar-3" descr="Resort courtyard, lanterns at dusk">    </p:cNvPr>
          <p:cNvPicPr>
            <a:picLocks noChangeAspect="1"/>
          </p:cNvPicPr>
          <p:nvPr/>
        </p:nvPicPr>
        <p:blipFill>
          <a:blip r:embed="rId1"/>
          <a:srcRect l="0" r="0" t="0" b="0"/>
          <a:stretch/>
        </p:blipFill>
        <p:spPr>
          <a:xfrm>
            <a:off x="0" y="0"/>
            <a:ext cx="4876678" cy="6858000"/>
          </a:xfrm>
          <a:prstGeom prst="rect">
            <a:avLst/>
          </a:prstGeom>
        </p:spPr>
      </p:pic>
      <p:pic>
        <p:nvPicPr>
          <p:cNvPr id="3" name="Scrim scrim_full_dark" descr="Gradient scrim">    </p:cNvPr>
          <p:cNvPicPr>
            <a:picLocks noChangeAspect="1"/>
          </p:cNvPicPr>
          <p:nvPr/>
        </p:nvPicPr>
        <p:blipFill>
          <a:blip r:embed="rId2"/>
          <a:stretch>
            <a:fillRect/>
          </a:stretch>
        </p:blipFill>
        <p:spPr>
          <a:xfrm>
            <a:off x="0" y="0"/>
            <a:ext cx="4876678" cy="6858000"/>
          </a:xfrm>
          <a:prstGeom prst="rect">
            <a:avLst/>
          </a:prstGeom>
        </p:spPr>
      </p:pic>
      <p:sp>
        <p:nvSpPr>
          <p:cNvPr id="4" name="Photo slot label 08-pillar-3"/>
          <p:cNvSpPr txBox="1"/>
          <p:nvPr/>
        </p:nvSpPr>
        <p:spPr>
          <a:xfrm>
            <a:off x="228600" y="274320"/>
            <a:ext cx="4419478"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08-PILLAR-3 : RESORT COURTYARD, LANTERNS AT DUSK</a:t>
            </a:r>
            <a:endParaRPr lang="en-US" sz="900" dirty="0"/>
          </a:p>
        </p:txBody>
      </p:sp>
      <p:sp>
        <p:nvSpPr>
          <p:cNvPr id="5" name="Eyebrow: Pillar 03"/>
          <p:cNvSpPr txBox="1"/>
          <p:nvPr/>
        </p:nvSpPr>
        <p:spPr>
          <a:xfrm>
            <a:off x="822960" y="77724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PILLAR 03</a:t>
            </a:r>
            <a:endParaRPr lang="en-US" sz="1200" dirty="0"/>
          </a:p>
        </p:txBody>
      </p:sp>
      <p:sp>
        <p:nvSpPr>
          <p:cNvPr id="6" name="Title"/>
          <p:cNvSpPr txBox="1"/>
          <p:nvPr/>
        </p:nvSpPr>
        <p:spPr>
          <a:xfrm>
            <a:off x="822960" y="1051560"/>
            <a:ext cx="3505078" cy="1737360"/>
          </a:xfrm>
          <a:prstGeom prst="rect">
            <a:avLst/>
          </a:prstGeom>
          <a:noFill/>
          <a:ln/>
        </p:spPr>
        <p:txBody>
          <a:bodyPr wrap="square" lIns="0" tIns="0" rIns="0" bIns="0" rtlCol="0" anchor="t"/>
          <a:lstStyle/>
          <a:p>
            <a:pPr indent="0" marL="0">
              <a:lnSpc>
                <a:spcPct val="100000"/>
              </a:lnSpc>
              <a:buNone/>
            </a:pPr>
            <a:r>
              <a:rPr lang="en-US" sz="4000" dirty="0">
                <a:solidFill>
                  <a:schemeClr val="bg1"/>
                </a:solidFill>
                <a:latin typeface="+mj-lt" pitchFamily="34" charset="0"/>
                <a:ea typeface="+mj-lt" pitchFamily="34" charset="-122"/>
                <a:cs typeface="+mj-lt" pitchFamily="34" charset="-120"/>
              </a:rPr>
              <a:t>Resort &amp; hospitality group</a:t>
            </a:r>
            <a:endParaRPr lang="en-US" sz="4000" dirty="0"/>
          </a:p>
        </p:txBody>
      </p:sp>
      <p:sp>
        <p:nvSpPr>
          <p:cNvPr id="7" name="Eyebrow: Ambition"/>
          <p:cNvSpPr txBox="1"/>
          <p:nvPr/>
        </p:nvSpPr>
        <p:spPr>
          <a:xfrm>
            <a:off x="822960" y="356616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AMBITION</a:t>
            </a:r>
            <a:endParaRPr lang="en-US" sz="1200" dirty="0"/>
          </a:p>
        </p:txBody>
      </p:sp>
      <p:sp>
        <p:nvSpPr>
          <p:cNvPr id="8" name="Ambition"/>
          <p:cNvSpPr txBox="1"/>
          <p:nvPr/>
        </p:nvSpPr>
        <p:spPr>
          <a:xfrm>
            <a:off x="822960" y="3858768"/>
            <a:ext cx="3505078" cy="1234440"/>
          </a:xfrm>
          <a:prstGeom prst="rect">
            <a:avLst/>
          </a:prstGeom>
          <a:noFill/>
          <a:ln/>
        </p:spPr>
        <p:txBody>
          <a:bodyPr wrap="square" lIns="0" tIns="0" rIns="0" bIns="0" rtlCol="0" anchor="t"/>
          <a:lstStyle/>
          <a:p>
            <a:pPr indent="0" marL="0">
              <a:lnSpc>
                <a:spcPct val="125000"/>
              </a:lnSpc>
              <a:buNone/>
            </a:pPr>
            <a:r>
              <a:rPr lang="en-US" sz="1500" dirty="0">
                <a:solidFill>
                  <a:schemeClr val="accent4"/>
                </a:solidFill>
                <a:latin typeface="+mn-lt" pitchFamily="34" charset="0"/>
                <a:ea typeface="+mn-lt" pitchFamily="34" charset="-122"/>
                <a:cs typeface="+mn-lt" pitchFamily="34" charset="-120"/>
              </a:rPr>
              <a:t>Resorts and venues that carry the Al Shami standard of welcome and generosity.</a:t>
            </a:r>
            <a:endParaRPr lang="en-US" sz="1500" dirty="0"/>
          </a:p>
        </p:txBody>
      </p:sp>
      <p:sp>
        <p:nvSpPr>
          <p:cNvPr id="9" name="Eyebrow: Outcome"/>
          <p:cNvSpPr txBox="1"/>
          <p:nvPr/>
        </p:nvSpPr>
        <p:spPr>
          <a:xfrm>
            <a:off x="822960" y="5138928"/>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OUTCOME</a:t>
            </a:r>
            <a:endParaRPr lang="en-US" sz="1200" dirty="0"/>
          </a:p>
        </p:txBody>
      </p:sp>
      <p:sp>
        <p:nvSpPr>
          <p:cNvPr id="10" name="Outcome"/>
          <p:cNvSpPr txBox="1"/>
          <p:nvPr/>
        </p:nvSpPr>
        <p:spPr>
          <a:xfrm>
            <a:off x="822960" y="5431536"/>
            <a:ext cx="3505078" cy="685800"/>
          </a:xfrm>
          <a:prstGeom prst="rect">
            <a:avLst/>
          </a:prstGeom>
          <a:noFill/>
          <a:ln/>
        </p:spPr>
        <p:txBody>
          <a:bodyPr wrap="square" lIns="0" tIns="0" rIns="0" bIns="0" rtlCol="0" anchor="t"/>
          <a:lstStyle/>
          <a:p>
            <a:pPr indent="0" marL="0">
              <a:lnSpc>
                <a:spcPct val="125000"/>
              </a:lnSpc>
              <a:buNone/>
            </a:pPr>
            <a:r>
              <a:rPr lang="en-US" sz="1500" dirty="0">
                <a:solidFill>
                  <a:schemeClr val="bg1"/>
                </a:solidFill>
                <a:latin typeface="+mn-lt" pitchFamily="34" charset="0"/>
                <a:ea typeface="+mn-lt" pitchFamily="34" charset="-122"/>
                <a:cs typeface="+mn-lt" pitchFamily="34" charset="-120"/>
              </a:rPr>
              <a:t>A pipeline with [first resort] in development</a:t>
            </a:r>
            <a:endParaRPr lang="en-US" sz="1500" dirty="0"/>
          </a:p>
        </p:txBody>
      </p:sp>
      <p:sp>
        <p:nvSpPr>
          <p:cNvPr id="11" name="Eyebrow: Workstreams"/>
          <p:cNvSpPr txBox="1"/>
          <p:nvPr/>
        </p:nvSpPr>
        <p:spPr>
          <a:xfrm>
            <a:off x="5562478" y="777240"/>
            <a:ext cx="5806257"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WORKSTREAMS</a:t>
            </a:r>
            <a:endParaRPr lang="en-US" sz="1200" dirty="0"/>
          </a:p>
        </p:txBody>
      </p:sp>
      <p:sp>
        <p:nvSpPr>
          <p:cNvPr id="12" name="Hairline"/>
          <p:cNvSpPr/>
          <p:nvPr/>
        </p:nvSpPr>
        <p:spPr>
          <a:xfrm>
            <a:off x="5562478" y="1234440"/>
            <a:ext cx="5806257" cy="0"/>
          </a:xfrm>
          <a:prstGeom prst="line">
            <a:avLst/>
          </a:prstGeom>
          <a:noFill/>
          <a:ln w="9525">
            <a:solidFill>
              <a:schemeClr val="accent6"/>
            </a:solidFill>
            <a:prstDash val="solid"/>
          </a:ln>
        </p:spPr>
      </p:sp>
      <p:sp>
        <p:nvSpPr>
          <p:cNvPr id="13" name="Workstream label 1"/>
          <p:cNvSpPr txBox="1"/>
          <p:nvPr/>
        </p:nvSpPr>
        <p:spPr>
          <a:xfrm>
            <a:off x="5562478" y="138988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CONCEPT</a:t>
            </a:r>
            <a:endParaRPr lang="en-US" sz="1100" dirty="0"/>
          </a:p>
        </p:txBody>
      </p:sp>
      <p:sp>
        <p:nvSpPr>
          <p:cNvPr id="14" name="Workstream action 1"/>
          <p:cNvSpPr txBox="1"/>
          <p:nvPr/>
        </p:nvSpPr>
        <p:spPr>
          <a:xfrm>
            <a:off x="7345558" y="136245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Positioning, guest experience and the F&amp;B program</a:t>
            </a:r>
            <a:endParaRPr lang="en-US" sz="1500" dirty="0"/>
          </a:p>
        </p:txBody>
      </p:sp>
      <p:sp>
        <p:nvSpPr>
          <p:cNvPr id="15" name="Hairline"/>
          <p:cNvSpPr/>
          <p:nvPr/>
        </p:nvSpPr>
        <p:spPr>
          <a:xfrm>
            <a:off x="5562478" y="1984248"/>
            <a:ext cx="5806257" cy="0"/>
          </a:xfrm>
          <a:prstGeom prst="line">
            <a:avLst/>
          </a:prstGeom>
          <a:noFill/>
          <a:ln w="9525">
            <a:solidFill>
              <a:schemeClr val="accent6"/>
            </a:solidFill>
            <a:prstDash val="solid"/>
          </a:ln>
        </p:spPr>
      </p:sp>
      <p:sp>
        <p:nvSpPr>
          <p:cNvPr id="16" name="Workstream label 2"/>
          <p:cNvSpPr txBox="1"/>
          <p:nvPr/>
        </p:nvSpPr>
        <p:spPr>
          <a:xfrm>
            <a:off x="5562478" y="2139696"/>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BRAND</a:t>
            </a:r>
            <a:endParaRPr lang="en-US" sz="1100" dirty="0"/>
          </a:p>
        </p:txBody>
      </p:sp>
      <p:sp>
        <p:nvSpPr>
          <p:cNvPr id="17" name="Workstream action 2"/>
          <p:cNvSpPr txBox="1"/>
          <p:nvPr/>
        </p:nvSpPr>
        <p:spPr>
          <a:xfrm>
            <a:off x="7345558" y="2112264"/>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One group brand architecture across every venue</a:t>
            </a:r>
            <a:endParaRPr lang="en-US" sz="1500" dirty="0"/>
          </a:p>
        </p:txBody>
      </p:sp>
      <p:sp>
        <p:nvSpPr>
          <p:cNvPr id="18" name="Hairline"/>
          <p:cNvSpPr/>
          <p:nvPr/>
        </p:nvSpPr>
        <p:spPr>
          <a:xfrm>
            <a:off x="5562478" y="2734056"/>
            <a:ext cx="5806257" cy="0"/>
          </a:xfrm>
          <a:prstGeom prst="line">
            <a:avLst/>
          </a:prstGeom>
          <a:noFill/>
          <a:ln w="9525">
            <a:solidFill>
              <a:schemeClr val="accent6"/>
            </a:solidFill>
            <a:prstDash val="solid"/>
          </a:ln>
        </p:spPr>
      </p:sp>
      <p:sp>
        <p:nvSpPr>
          <p:cNvPr id="19" name="Workstream label 3"/>
          <p:cNvSpPr txBox="1"/>
          <p:nvPr/>
        </p:nvSpPr>
        <p:spPr>
          <a:xfrm>
            <a:off x="5562478" y="2889504"/>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OPERATIONS</a:t>
            </a:r>
            <a:endParaRPr lang="en-US" sz="1100" dirty="0"/>
          </a:p>
        </p:txBody>
      </p:sp>
      <p:sp>
        <p:nvSpPr>
          <p:cNvPr id="20" name="Workstream action 3"/>
          <p:cNvSpPr txBox="1"/>
          <p:nvPr/>
        </p:nvSpPr>
        <p:spPr>
          <a:xfrm>
            <a:off x="7345558" y="2862072"/>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Operating model, management systems and service standards</a:t>
            </a:r>
            <a:endParaRPr lang="en-US" sz="1500" dirty="0"/>
          </a:p>
        </p:txBody>
      </p:sp>
      <p:sp>
        <p:nvSpPr>
          <p:cNvPr id="21" name="Hairline"/>
          <p:cNvSpPr/>
          <p:nvPr/>
        </p:nvSpPr>
        <p:spPr>
          <a:xfrm>
            <a:off x="5562478" y="3483864"/>
            <a:ext cx="5806257" cy="0"/>
          </a:xfrm>
          <a:prstGeom prst="line">
            <a:avLst/>
          </a:prstGeom>
          <a:noFill/>
          <a:ln w="9525">
            <a:solidFill>
              <a:schemeClr val="accent6"/>
            </a:solidFill>
            <a:prstDash val="solid"/>
          </a:ln>
        </p:spPr>
      </p:sp>
      <p:sp>
        <p:nvSpPr>
          <p:cNvPr id="22" name="Workstream label 4"/>
          <p:cNvSpPr txBox="1"/>
          <p:nvPr/>
        </p:nvSpPr>
        <p:spPr>
          <a:xfrm>
            <a:off x="5562478" y="3639312"/>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PEOPLE</a:t>
            </a:r>
            <a:endParaRPr lang="en-US" sz="1100" dirty="0"/>
          </a:p>
        </p:txBody>
      </p:sp>
      <p:sp>
        <p:nvSpPr>
          <p:cNvPr id="23" name="Workstream action 4"/>
          <p:cNvSpPr txBox="1"/>
          <p:nvPr/>
        </p:nvSpPr>
        <p:spPr>
          <a:xfrm>
            <a:off x="7345558" y="3611880"/>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 leadership team and a hospitality academy</a:t>
            </a:r>
            <a:endParaRPr lang="en-US" sz="1500" dirty="0"/>
          </a:p>
        </p:txBody>
      </p:sp>
      <p:sp>
        <p:nvSpPr>
          <p:cNvPr id="24" name="Hairline"/>
          <p:cNvSpPr/>
          <p:nvPr/>
        </p:nvSpPr>
        <p:spPr>
          <a:xfrm>
            <a:off x="5562478" y="4233672"/>
            <a:ext cx="5806257" cy="0"/>
          </a:xfrm>
          <a:prstGeom prst="line">
            <a:avLst/>
          </a:prstGeom>
          <a:noFill/>
          <a:ln w="9525">
            <a:solidFill>
              <a:schemeClr val="accent6"/>
            </a:solidFill>
            <a:prstDash val="solid"/>
          </a:ln>
        </p:spPr>
      </p:sp>
      <p:sp>
        <p:nvSpPr>
          <p:cNvPr id="25" name="Workstream label 5"/>
          <p:cNvSpPr txBox="1"/>
          <p:nvPr/>
        </p:nvSpPr>
        <p:spPr>
          <a:xfrm>
            <a:off x="5562478" y="4389120"/>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BUILD</a:t>
            </a:r>
            <a:endParaRPr lang="en-US" sz="1100" dirty="0"/>
          </a:p>
        </p:txBody>
      </p:sp>
      <p:sp>
        <p:nvSpPr>
          <p:cNvPr id="26" name="Workstream action 5"/>
          <p:cNvSpPr txBox="1"/>
          <p:nvPr/>
        </p:nvSpPr>
        <p:spPr>
          <a:xfrm>
            <a:off x="7345558" y="4361688"/>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Site and partner strategy, feasibility and development</a:t>
            </a:r>
            <a:endParaRPr lang="en-US" sz="1500" dirty="0"/>
          </a:p>
        </p:txBody>
      </p:sp>
      <p:sp>
        <p:nvSpPr>
          <p:cNvPr id="27" name="Hairline"/>
          <p:cNvSpPr/>
          <p:nvPr/>
        </p:nvSpPr>
        <p:spPr>
          <a:xfrm>
            <a:off x="5562478" y="4983480"/>
            <a:ext cx="5806257" cy="0"/>
          </a:xfrm>
          <a:prstGeom prst="line">
            <a:avLst/>
          </a:prstGeom>
          <a:noFill/>
          <a:ln w="9525">
            <a:solidFill>
              <a:schemeClr val="accent6"/>
            </a:solidFill>
            <a:prstDash val="solid"/>
          </a:ln>
        </p:spPr>
      </p:sp>
      <p:sp>
        <p:nvSpPr>
          <p:cNvPr id="28" name="Workstream label 6"/>
          <p:cNvSpPr txBox="1"/>
          <p:nvPr/>
        </p:nvSpPr>
        <p:spPr>
          <a:xfrm>
            <a:off x="5562478" y="513892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EXECUTION</a:t>
            </a:r>
            <a:endParaRPr lang="en-US" sz="1100" dirty="0"/>
          </a:p>
        </p:txBody>
      </p:sp>
      <p:sp>
        <p:nvSpPr>
          <p:cNvPr id="29" name="Workstream action 6"/>
          <p:cNvSpPr txBox="1"/>
          <p:nvPr/>
        </p:nvSpPr>
        <p:spPr>
          <a:xfrm>
            <a:off x="7345558" y="511149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 phased pipeline with clear investment gates</a:t>
            </a:r>
            <a:endParaRPr lang="en-US" sz="1500" dirty="0"/>
          </a:p>
        </p:txBody>
      </p:sp>
      <p:sp>
        <p:nvSpPr>
          <p:cNvPr id="30" name="Hairline"/>
          <p:cNvSpPr/>
          <p:nvPr/>
        </p:nvSpPr>
        <p:spPr>
          <a:xfrm>
            <a:off x="5562478" y="5733288"/>
            <a:ext cx="5806257" cy="0"/>
          </a:xfrm>
          <a:prstGeom prst="line">
            <a:avLst/>
          </a:prstGeom>
          <a:noFill/>
          <a:ln w="9525">
            <a:solidFill>
              <a:schemeClr val="accent6"/>
            </a:solidFill>
            <a:prstDash val="solid"/>
          </a:ln>
        </p:spPr>
      </p:sp>
      <p:sp>
        <p:nvSpPr>
          <p:cNvPr id="31" name="Footer"/>
          <p:cNvSpPr txBox="1"/>
          <p:nvPr/>
        </p:nvSpPr>
        <p:spPr>
          <a:xfrm>
            <a:off x="5562478"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hoto 09-pillar-4" descr="Heritage coffee house, brass and wood">    </p:cNvPr>
          <p:cNvPicPr>
            <a:picLocks noChangeAspect="1"/>
          </p:cNvPicPr>
          <p:nvPr/>
        </p:nvPicPr>
        <p:blipFill>
          <a:blip r:embed="rId1"/>
          <a:srcRect l="0" r="0" t="0" b="0"/>
          <a:stretch/>
        </p:blipFill>
        <p:spPr>
          <a:xfrm>
            <a:off x="0" y="0"/>
            <a:ext cx="4876678" cy="6858000"/>
          </a:xfrm>
          <a:prstGeom prst="rect">
            <a:avLst/>
          </a:prstGeom>
        </p:spPr>
      </p:pic>
      <p:pic>
        <p:nvPicPr>
          <p:cNvPr id="3" name="Scrim scrim_full_dark" descr="Gradient scrim">    </p:cNvPr>
          <p:cNvPicPr>
            <a:picLocks noChangeAspect="1"/>
          </p:cNvPicPr>
          <p:nvPr/>
        </p:nvPicPr>
        <p:blipFill>
          <a:blip r:embed="rId2"/>
          <a:stretch>
            <a:fillRect/>
          </a:stretch>
        </p:blipFill>
        <p:spPr>
          <a:xfrm>
            <a:off x="0" y="0"/>
            <a:ext cx="4876678" cy="6858000"/>
          </a:xfrm>
          <a:prstGeom prst="rect">
            <a:avLst/>
          </a:prstGeom>
        </p:spPr>
      </p:pic>
      <p:sp>
        <p:nvSpPr>
          <p:cNvPr id="4" name="Photo slot label 09-pillar-4"/>
          <p:cNvSpPr txBox="1"/>
          <p:nvPr/>
        </p:nvSpPr>
        <p:spPr>
          <a:xfrm>
            <a:off x="228600" y="274320"/>
            <a:ext cx="4419478" cy="548640"/>
          </a:xfrm>
          <a:prstGeom prst="rect">
            <a:avLst/>
          </a:prstGeom>
          <a:noFill/>
          <a:ln/>
        </p:spPr>
        <p:txBody>
          <a:bodyPr wrap="square" lIns="0" tIns="0" rIns="0" bIns="0" rtlCol="0" anchor="t"/>
          <a:lstStyle/>
          <a:p>
            <a:pPr algn="r" indent="0" marL="0">
              <a:buNone/>
            </a:pPr>
            <a:r>
              <a:rPr lang="en-US" sz="900" spc="150" kern="0" dirty="0">
                <a:solidFill>
                  <a:schemeClr val="accent1"/>
                </a:solidFill>
                <a:latin typeface="+mn-lt" pitchFamily="34" charset="0"/>
                <a:ea typeface="+mn-lt" pitchFamily="34" charset="-122"/>
                <a:cs typeface="+mn-lt" pitchFamily="34" charset="-120"/>
              </a:rPr>
              <a:t>PHOTO SLOT 09-PILLAR-4 : HERITAGE COFFEE HOUSE, BRASS AND WOOD</a:t>
            </a:r>
            <a:endParaRPr lang="en-US" sz="900" dirty="0"/>
          </a:p>
        </p:txBody>
      </p:sp>
      <p:sp>
        <p:nvSpPr>
          <p:cNvPr id="5" name="Eyebrow: Pillar 04"/>
          <p:cNvSpPr txBox="1"/>
          <p:nvPr/>
        </p:nvSpPr>
        <p:spPr>
          <a:xfrm>
            <a:off x="822960" y="77724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PILLAR 04</a:t>
            </a:r>
            <a:endParaRPr lang="en-US" sz="1200" dirty="0"/>
          </a:p>
        </p:txBody>
      </p:sp>
      <p:sp>
        <p:nvSpPr>
          <p:cNvPr id="6" name="Title"/>
          <p:cNvSpPr txBox="1"/>
          <p:nvPr/>
        </p:nvSpPr>
        <p:spPr>
          <a:xfrm>
            <a:off x="822960" y="1051560"/>
            <a:ext cx="3505078" cy="1737360"/>
          </a:xfrm>
          <a:prstGeom prst="rect">
            <a:avLst/>
          </a:prstGeom>
          <a:noFill/>
          <a:ln/>
        </p:spPr>
        <p:txBody>
          <a:bodyPr wrap="square" lIns="0" tIns="0" rIns="0" bIns="0" rtlCol="0" anchor="t"/>
          <a:lstStyle/>
          <a:p>
            <a:pPr indent="0" marL="0">
              <a:lnSpc>
                <a:spcPct val="100000"/>
              </a:lnSpc>
              <a:buNone/>
            </a:pPr>
            <a:r>
              <a:rPr lang="en-US" sz="4000" dirty="0">
                <a:solidFill>
                  <a:schemeClr val="bg1"/>
                </a:solidFill>
                <a:latin typeface="+mj-lt" pitchFamily="34" charset="0"/>
                <a:ea typeface="+mj-lt" pitchFamily="34" charset="-122"/>
                <a:cs typeface="+mj-lt" pitchFamily="34" charset="-120"/>
              </a:rPr>
              <a:t>Continuity &amp; legacy</a:t>
            </a:r>
            <a:endParaRPr lang="en-US" sz="4000" dirty="0"/>
          </a:p>
        </p:txBody>
      </p:sp>
      <p:sp>
        <p:nvSpPr>
          <p:cNvPr id="7" name="Eyebrow: Ambition"/>
          <p:cNvSpPr txBox="1"/>
          <p:nvPr/>
        </p:nvSpPr>
        <p:spPr>
          <a:xfrm>
            <a:off x="822960" y="3566160"/>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AMBITION</a:t>
            </a:r>
            <a:endParaRPr lang="en-US" sz="1200" dirty="0"/>
          </a:p>
        </p:txBody>
      </p:sp>
      <p:sp>
        <p:nvSpPr>
          <p:cNvPr id="8" name="Ambition"/>
          <p:cNvSpPr txBox="1"/>
          <p:nvPr/>
        </p:nvSpPr>
        <p:spPr>
          <a:xfrm>
            <a:off x="822960" y="3858768"/>
            <a:ext cx="3505078" cy="1234440"/>
          </a:xfrm>
          <a:prstGeom prst="rect">
            <a:avLst/>
          </a:prstGeom>
          <a:noFill/>
          <a:ln/>
        </p:spPr>
        <p:txBody>
          <a:bodyPr wrap="square" lIns="0" tIns="0" rIns="0" bIns="0" rtlCol="0" anchor="t"/>
          <a:lstStyle/>
          <a:p>
            <a:pPr indent="0" marL="0">
              <a:lnSpc>
                <a:spcPct val="125000"/>
              </a:lnSpc>
              <a:buNone/>
            </a:pPr>
            <a:r>
              <a:rPr lang="en-US" sz="1500" dirty="0">
                <a:solidFill>
                  <a:schemeClr val="accent4"/>
                </a:solidFill>
                <a:latin typeface="+mn-lt" pitchFamily="34" charset="0"/>
                <a:ea typeface="+mn-lt" pitchFamily="34" charset="-122"/>
                <a:cs typeface="+mn-lt" pitchFamily="34" charset="-120"/>
              </a:rPr>
              <a:t>Clear governance, next-generation leadership and an impact that reaches beyond the founders.</a:t>
            </a:r>
            <a:endParaRPr lang="en-US" sz="1500" dirty="0"/>
          </a:p>
        </p:txBody>
      </p:sp>
      <p:sp>
        <p:nvSpPr>
          <p:cNvPr id="9" name="Eyebrow: Outcome"/>
          <p:cNvSpPr txBox="1"/>
          <p:nvPr/>
        </p:nvSpPr>
        <p:spPr>
          <a:xfrm>
            <a:off x="822960" y="5138928"/>
            <a:ext cx="3505078"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OUTCOME</a:t>
            </a:r>
            <a:endParaRPr lang="en-US" sz="1200" dirty="0"/>
          </a:p>
        </p:txBody>
      </p:sp>
      <p:sp>
        <p:nvSpPr>
          <p:cNvPr id="10" name="Outcome"/>
          <p:cNvSpPr txBox="1"/>
          <p:nvPr/>
        </p:nvSpPr>
        <p:spPr>
          <a:xfrm>
            <a:off x="822960" y="5431536"/>
            <a:ext cx="3505078" cy="685800"/>
          </a:xfrm>
          <a:prstGeom prst="rect">
            <a:avLst/>
          </a:prstGeom>
          <a:noFill/>
          <a:ln/>
        </p:spPr>
        <p:txBody>
          <a:bodyPr wrap="square" lIns="0" tIns="0" rIns="0" bIns="0" rtlCol="0" anchor="t"/>
          <a:lstStyle/>
          <a:p>
            <a:pPr indent="0" marL="0">
              <a:lnSpc>
                <a:spcPct val="125000"/>
              </a:lnSpc>
              <a:buNone/>
            </a:pPr>
            <a:r>
              <a:rPr lang="en-US" sz="1500" dirty="0">
                <a:solidFill>
                  <a:schemeClr val="bg1"/>
                </a:solidFill>
                <a:latin typeface="+mn-lt" pitchFamily="34" charset="0"/>
                <a:ea typeface="+mn-lt" pitchFamily="34" charset="-122"/>
                <a:cs typeface="+mn-lt" pitchFamily="34" charset="-120"/>
              </a:rPr>
              <a:t>A group that runs on systems, not on individuals</a:t>
            </a:r>
            <a:endParaRPr lang="en-US" sz="1500" dirty="0"/>
          </a:p>
        </p:txBody>
      </p:sp>
      <p:sp>
        <p:nvSpPr>
          <p:cNvPr id="11" name="Eyebrow: Workstreams"/>
          <p:cNvSpPr txBox="1"/>
          <p:nvPr/>
        </p:nvSpPr>
        <p:spPr>
          <a:xfrm>
            <a:off x="5562478" y="777240"/>
            <a:ext cx="5806257"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WORKSTREAMS</a:t>
            </a:r>
            <a:endParaRPr lang="en-US" sz="1200" dirty="0"/>
          </a:p>
        </p:txBody>
      </p:sp>
      <p:sp>
        <p:nvSpPr>
          <p:cNvPr id="12" name="Hairline"/>
          <p:cNvSpPr/>
          <p:nvPr/>
        </p:nvSpPr>
        <p:spPr>
          <a:xfrm>
            <a:off x="5562478" y="1234440"/>
            <a:ext cx="5806257" cy="0"/>
          </a:xfrm>
          <a:prstGeom prst="line">
            <a:avLst/>
          </a:prstGeom>
          <a:noFill/>
          <a:ln w="9525">
            <a:solidFill>
              <a:schemeClr val="accent6"/>
            </a:solidFill>
            <a:prstDash val="solid"/>
          </a:ln>
        </p:spPr>
      </p:sp>
      <p:sp>
        <p:nvSpPr>
          <p:cNvPr id="13" name="Workstream label 1"/>
          <p:cNvSpPr txBox="1"/>
          <p:nvPr/>
        </p:nvSpPr>
        <p:spPr>
          <a:xfrm>
            <a:off x="5562478" y="138988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GOVERNANCE</a:t>
            </a:r>
            <a:endParaRPr lang="en-US" sz="1100" dirty="0"/>
          </a:p>
        </p:txBody>
      </p:sp>
      <p:sp>
        <p:nvSpPr>
          <p:cNvPr id="14" name="Workstream action 1"/>
          <p:cNvSpPr txBox="1"/>
          <p:nvPr/>
        </p:nvSpPr>
        <p:spPr>
          <a:xfrm>
            <a:off x="7345558" y="136245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 board, a family charter and clear decision rights</a:t>
            </a:r>
            <a:endParaRPr lang="en-US" sz="1500" dirty="0"/>
          </a:p>
        </p:txBody>
      </p:sp>
      <p:sp>
        <p:nvSpPr>
          <p:cNvPr id="15" name="Hairline"/>
          <p:cNvSpPr/>
          <p:nvPr/>
        </p:nvSpPr>
        <p:spPr>
          <a:xfrm>
            <a:off x="5562478" y="1984248"/>
            <a:ext cx="5806257" cy="0"/>
          </a:xfrm>
          <a:prstGeom prst="line">
            <a:avLst/>
          </a:prstGeom>
          <a:noFill/>
          <a:ln w="9525">
            <a:solidFill>
              <a:schemeClr val="accent6"/>
            </a:solidFill>
            <a:prstDash val="solid"/>
          </a:ln>
        </p:spPr>
      </p:sp>
      <p:sp>
        <p:nvSpPr>
          <p:cNvPr id="16" name="Workstream label 2"/>
          <p:cNvSpPr txBox="1"/>
          <p:nvPr/>
        </p:nvSpPr>
        <p:spPr>
          <a:xfrm>
            <a:off x="5562478" y="2139696"/>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PEOPLE</a:t>
            </a:r>
            <a:endParaRPr lang="en-US" sz="1100" dirty="0"/>
          </a:p>
        </p:txBody>
      </p:sp>
      <p:sp>
        <p:nvSpPr>
          <p:cNvPr id="17" name="Workstream action 2"/>
          <p:cNvSpPr txBox="1"/>
          <p:nvPr/>
        </p:nvSpPr>
        <p:spPr>
          <a:xfrm>
            <a:off x="7345558" y="2112264"/>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Succession planning and next-generation development</a:t>
            </a:r>
            <a:endParaRPr lang="en-US" sz="1500" dirty="0"/>
          </a:p>
        </p:txBody>
      </p:sp>
      <p:sp>
        <p:nvSpPr>
          <p:cNvPr id="18" name="Hairline"/>
          <p:cNvSpPr/>
          <p:nvPr/>
        </p:nvSpPr>
        <p:spPr>
          <a:xfrm>
            <a:off x="5562478" y="2734056"/>
            <a:ext cx="5806257" cy="0"/>
          </a:xfrm>
          <a:prstGeom prst="line">
            <a:avLst/>
          </a:prstGeom>
          <a:noFill/>
          <a:ln w="9525">
            <a:solidFill>
              <a:schemeClr val="accent6"/>
            </a:solidFill>
            <a:prstDash val="solid"/>
          </a:ln>
        </p:spPr>
      </p:sp>
      <p:sp>
        <p:nvSpPr>
          <p:cNvPr id="19" name="Workstream label 3"/>
          <p:cNvSpPr txBox="1"/>
          <p:nvPr/>
        </p:nvSpPr>
        <p:spPr>
          <a:xfrm>
            <a:off x="5562478" y="2889504"/>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SYSTEMS</a:t>
            </a:r>
            <a:endParaRPr lang="en-US" sz="1100" dirty="0"/>
          </a:p>
        </p:txBody>
      </p:sp>
      <p:sp>
        <p:nvSpPr>
          <p:cNvPr id="20" name="Workstream action 3"/>
          <p:cNvSpPr txBox="1"/>
          <p:nvPr/>
        </p:nvSpPr>
        <p:spPr>
          <a:xfrm>
            <a:off x="7345558" y="2862072"/>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Finance, reporting and shared KPIs across the group</a:t>
            </a:r>
            <a:endParaRPr lang="en-US" sz="1500" dirty="0"/>
          </a:p>
        </p:txBody>
      </p:sp>
      <p:sp>
        <p:nvSpPr>
          <p:cNvPr id="21" name="Hairline"/>
          <p:cNvSpPr/>
          <p:nvPr/>
        </p:nvSpPr>
        <p:spPr>
          <a:xfrm>
            <a:off x="5562478" y="3483864"/>
            <a:ext cx="5806257" cy="0"/>
          </a:xfrm>
          <a:prstGeom prst="line">
            <a:avLst/>
          </a:prstGeom>
          <a:noFill/>
          <a:ln w="9525">
            <a:solidFill>
              <a:schemeClr val="accent6"/>
            </a:solidFill>
            <a:prstDash val="solid"/>
          </a:ln>
        </p:spPr>
      </p:sp>
      <p:sp>
        <p:nvSpPr>
          <p:cNvPr id="22" name="Workstream label 4"/>
          <p:cNvSpPr txBox="1"/>
          <p:nvPr/>
        </p:nvSpPr>
        <p:spPr>
          <a:xfrm>
            <a:off x="5562478" y="3639312"/>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BRAND HERITAGE</a:t>
            </a:r>
            <a:endParaRPr lang="en-US" sz="1100" dirty="0"/>
          </a:p>
        </p:txBody>
      </p:sp>
      <p:sp>
        <p:nvSpPr>
          <p:cNvPr id="23" name="Workstream action 4"/>
          <p:cNvSpPr txBox="1"/>
          <p:nvPr/>
        </p:nvSpPr>
        <p:spPr>
          <a:xfrm>
            <a:off x="7345558" y="3611880"/>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An archive and a story that protect the name</a:t>
            </a:r>
            <a:endParaRPr lang="en-US" sz="1500" dirty="0"/>
          </a:p>
        </p:txBody>
      </p:sp>
      <p:sp>
        <p:nvSpPr>
          <p:cNvPr id="24" name="Hairline"/>
          <p:cNvSpPr/>
          <p:nvPr/>
        </p:nvSpPr>
        <p:spPr>
          <a:xfrm>
            <a:off x="5562478" y="4233672"/>
            <a:ext cx="5806257" cy="0"/>
          </a:xfrm>
          <a:prstGeom prst="line">
            <a:avLst/>
          </a:prstGeom>
          <a:noFill/>
          <a:ln w="9525">
            <a:solidFill>
              <a:schemeClr val="accent6"/>
            </a:solidFill>
            <a:prstDash val="solid"/>
          </a:ln>
        </p:spPr>
      </p:sp>
      <p:sp>
        <p:nvSpPr>
          <p:cNvPr id="25" name="Workstream label 5"/>
          <p:cNvSpPr txBox="1"/>
          <p:nvPr/>
        </p:nvSpPr>
        <p:spPr>
          <a:xfrm>
            <a:off x="5562478" y="4389120"/>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IMPACT (CSR)</a:t>
            </a:r>
            <a:endParaRPr lang="en-US" sz="1100" dirty="0"/>
          </a:p>
        </p:txBody>
      </p:sp>
      <p:sp>
        <p:nvSpPr>
          <p:cNvPr id="26" name="Workstream action 5"/>
          <p:cNvSpPr txBox="1"/>
          <p:nvPr/>
        </p:nvSpPr>
        <p:spPr>
          <a:xfrm>
            <a:off x="7345558" y="4361688"/>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 foundation for community and sourcing impact</a:t>
            </a:r>
            <a:endParaRPr lang="en-US" sz="1500" dirty="0"/>
          </a:p>
        </p:txBody>
      </p:sp>
      <p:sp>
        <p:nvSpPr>
          <p:cNvPr id="27" name="Hairline"/>
          <p:cNvSpPr/>
          <p:nvPr/>
        </p:nvSpPr>
        <p:spPr>
          <a:xfrm>
            <a:off x="5562478" y="4983480"/>
            <a:ext cx="5806257" cy="0"/>
          </a:xfrm>
          <a:prstGeom prst="line">
            <a:avLst/>
          </a:prstGeom>
          <a:noFill/>
          <a:ln w="9525">
            <a:solidFill>
              <a:schemeClr val="accent6"/>
            </a:solidFill>
            <a:prstDash val="solid"/>
          </a:ln>
        </p:spPr>
      </p:sp>
      <p:sp>
        <p:nvSpPr>
          <p:cNvPr id="28" name="Workstream label 6"/>
          <p:cNvSpPr txBox="1"/>
          <p:nvPr/>
        </p:nvSpPr>
        <p:spPr>
          <a:xfrm>
            <a:off x="5562478" y="5138928"/>
            <a:ext cx="1645920" cy="457200"/>
          </a:xfrm>
          <a:prstGeom prst="rect">
            <a:avLst/>
          </a:prstGeom>
          <a:noFill/>
          <a:ln/>
        </p:spPr>
        <p:txBody>
          <a:bodyPr wrap="square" lIns="0" tIns="0" rIns="0" bIns="0" rtlCol="0" anchor="t"/>
          <a:lstStyle/>
          <a:p>
            <a:pPr indent="0" marL="0">
              <a:lnSpc>
                <a:spcPct val="120000"/>
              </a:lnSpc>
              <a:buNone/>
            </a:pPr>
            <a:r>
              <a:rPr lang="en-US" sz="1100" b="1" spc="150" kern="0" dirty="0">
                <a:solidFill>
                  <a:schemeClr val="accent2"/>
                </a:solidFill>
                <a:latin typeface="+mn-lt" pitchFamily="34" charset="0"/>
                <a:ea typeface="+mn-lt" pitchFamily="34" charset="-122"/>
                <a:cs typeface="+mn-lt" pitchFamily="34" charset="-120"/>
              </a:rPr>
              <a:t>EXECUTION</a:t>
            </a:r>
            <a:endParaRPr lang="en-US" sz="1100" dirty="0"/>
          </a:p>
        </p:txBody>
      </p:sp>
      <p:sp>
        <p:nvSpPr>
          <p:cNvPr id="29" name="Workstream action 6"/>
          <p:cNvSpPr txBox="1"/>
          <p:nvPr/>
        </p:nvSpPr>
        <p:spPr>
          <a:xfrm>
            <a:off x="7345558" y="5111496"/>
            <a:ext cx="4023177" cy="566928"/>
          </a:xfrm>
          <a:prstGeom prst="rect">
            <a:avLst/>
          </a:prstGeom>
          <a:noFill/>
          <a:ln/>
        </p:spPr>
        <p:txBody>
          <a:bodyPr wrap="square" lIns="0" tIns="0" rIns="0" bIns="0" rtlCol="0" anchor="t"/>
          <a:lstStyle/>
          <a:p>
            <a:pPr indent="0" marL="0">
              <a:lnSpc>
                <a:spcPct val="120000"/>
              </a:lnSpc>
              <a:buNone/>
            </a:pPr>
            <a:r>
              <a:rPr lang="en-US" sz="1500" dirty="0">
                <a:solidFill>
                  <a:schemeClr val="accent3"/>
                </a:solidFill>
                <a:latin typeface="+mn-lt" pitchFamily="34" charset="0"/>
                <a:ea typeface="+mn-lt" pitchFamily="34" charset="-122"/>
                <a:cs typeface="+mn-lt" pitchFamily="34" charset="-120"/>
              </a:rPr>
              <a:t>An annual strategy review that keeps the plan alive</a:t>
            </a:r>
            <a:endParaRPr lang="en-US" sz="1500" dirty="0"/>
          </a:p>
        </p:txBody>
      </p:sp>
      <p:sp>
        <p:nvSpPr>
          <p:cNvPr id="30" name="Hairline"/>
          <p:cNvSpPr/>
          <p:nvPr/>
        </p:nvSpPr>
        <p:spPr>
          <a:xfrm>
            <a:off x="5562478" y="5733288"/>
            <a:ext cx="5806257" cy="0"/>
          </a:xfrm>
          <a:prstGeom prst="line">
            <a:avLst/>
          </a:prstGeom>
          <a:noFill/>
          <a:ln w="9525">
            <a:solidFill>
              <a:schemeClr val="accent6"/>
            </a:solidFill>
            <a:prstDash val="solid"/>
          </a:ln>
        </p:spPr>
      </p:sp>
      <p:sp>
        <p:nvSpPr>
          <p:cNvPr id="31" name="Footer"/>
          <p:cNvSpPr txBox="1"/>
          <p:nvPr/>
        </p:nvSpPr>
        <p:spPr>
          <a:xfrm>
            <a:off x="5562478"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The roadmap"/>
          <p:cNvSpPr txBox="1"/>
          <p:nvPr/>
        </p:nvSpPr>
        <p:spPr>
          <a:xfrm>
            <a:off x="822960" y="777240"/>
            <a:ext cx="10545775"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THE ROADMAP</a:t>
            </a:r>
            <a:endParaRPr lang="en-US" sz="1200" dirty="0"/>
          </a:p>
        </p:txBody>
      </p:sp>
      <p:sp>
        <p:nvSpPr>
          <p:cNvPr id="3" name="Title"/>
          <p:cNvSpPr txBox="1"/>
          <p:nvPr/>
        </p:nvSpPr>
        <p:spPr>
          <a:xfrm>
            <a:off x="822960" y="1051560"/>
            <a:ext cx="10545775" cy="731520"/>
          </a:xfrm>
          <a:prstGeom prst="rect">
            <a:avLst/>
          </a:prstGeom>
          <a:noFill/>
          <a:ln/>
        </p:spPr>
        <p:txBody>
          <a:bodyPr wrap="square" lIns="0" tIns="0" rIns="0" bIns="0" rtlCol="0" anchor="t"/>
          <a:lstStyle/>
          <a:p>
            <a:pPr indent="0" marL="0">
              <a:buNone/>
            </a:pPr>
            <a:r>
              <a:rPr lang="en-US" sz="4000" dirty="0">
                <a:solidFill>
                  <a:schemeClr val="bg1"/>
                </a:solidFill>
                <a:latin typeface="+mj-lt" pitchFamily="34" charset="0"/>
                <a:ea typeface="+mj-lt" pitchFamily="34" charset="-122"/>
                <a:cs typeface="+mj-lt" pitchFamily="34" charset="-120"/>
              </a:rPr>
              <a:t>How we get there</a:t>
            </a:r>
            <a:endParaRPr lang="en-US" sz="4000" dirty="0"/>
          </a:p>
        </p:txBody>
      </p:sp>
      <p:sp>
        <p:nvSpPr>
          <p:cNvPr id="4" name="Timeline"/>
          <p:cNvSpPr/>
          <p:nvPr/>
        </p:nvSpPr>
        <p:spPr>
          <a:xfrm>
            <a:off x="822960" y="2606040"/>
            <a:ext cx="10545775" cy="0"/>
          </a:xfrm>
          <a:prstGeom prst="line">
            <a:avLst/>
          </a:prstGeom>
          <a:noFill/>
          <a:ln w="12700">
            <a:solidFill>
              <a:schemeClr val="accent2"/>
            </a:solidFill>
            <a:prstDash val="solid"/>
          </a:ln>
        </p:spPr>
      </p:sp>
      <p:sp>
        <p:nvSpPr>
          <p:cNvPr id="5" name="Node 1"/>
          <p:cNvSpPr/>
          <p:nvPr/>
        </p:nvSpPr>
        <p:spPr>
          <a:xfrm>
            <a:off x="1935556" y="2514600"/>
            <a:ext cx="182880" cy="182880"/>
          </a:xfrm>
          <a:prstGeom prst="ellipse">
            <a:avLst/>
          </a:prstGeom>
          <a:solidFill>
            <a:schemeClr val="accent1"/>
          </a:solidFill>
          <a:ln w="19050">
            <a:solidFill>
              <a:schemeClr val="accent1"/>
            </a:solidFill>
            <a:prstDash val="solid"/>
          </a:ln>
        </p:spPr>
      </p:sp>
      <p:sp>
        <p:nvSpPr>
          <p:cNvPr id="6" name="Phase card 1"/>
          <p:cNvSpPr/>
          <p:nvPr/>
        </p:nvSpPr>
        <p:spPr>
          <a:xfrm>
            <a:off x="822960" y="3154680"/>
            <a:ext cx="2408072" cy="2971800"/>
          </a:xfrm>
          <a:prstGeom prst="rect">
            <a:avLst/>
          </a:prstGeom>
          <a:solidFill>
            <a:schemeClr val="accent5"/>
          </a:solidFill>
          <a:ln w="12700">
            <a:solidFill>
              <a:schemeClr val="accent1"/>
            </a:solidFill>
            <a:prstDash val="solid"/>
          </a:ln>
        </p:spPr>
      </p:sp>
      <p:sp>
        <p:nvSpPr>
          <p:cNvPr id="7" name="Eyebrow: Phase 1 · Now"/>
          <p:cNvSpPr txBox="1"/>
          <p:nvPr/>
        </p:nvSpPr>
        <p:spPr>
          <a:xfrm>
            <a:off x="1143000" y="3474720"/>
            <a:ext cx="1767992"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PHASE 1 · NOW</a:t>
            </a:r>
            <a:endParaRPr lang="en-US" sz="1200" dirty="0"/>
          </a:p>
        </p:txBody>
      </p:sp>
      <p:sp>
        <p:nvSpPr>
          <p:cNvPr id="8" name="Phase title Align"/>
          <p:cNvSpPr txBox="1"/>
          <p:nvPr/>
        </p:nvSpPr>
        <p:spPr>
          <a:xfrm>
            <a:off x="1143000" y="3822192"/>
            <a:ext cx="1767992" cy="45720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Align</a:t>
            </a:r>
            <a:endParaRPr lang="en-US" sz="2200" dirty="0"/>
          </a:p>
        </p:txBody>
      </p:sp>
      <p:sp>
        <p:nvSpPr>
          <p:cNvPr id="9" name="Phase body Align"/>
          <p:cNvSpPr txBox="1"/>
          <p:nvPr/>
        </p:nvSpPr>
        <p:spPr>
          <a:xfrm>
            <a:off x="1143000" y="4297680"/>
            <a:ext cx="1767992" cy="12344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Vision, pillars and priorities agreed</a:t>
            </a:r>
            <a:endParaRPr lang="en-US" sz="1400" dirty="0"/>
          </a:p>
        </p:txBody>
      </p:sp>
      <p:sp>
        <p:nvSpPr>
          <p:cNvPr id="10" name="Phase timing Align"/>
          <p:cNvSpPr txBox="1"/>
          <p:nvPr/>
        </p:nvSpPr>
        <p:spPr>
          <a:xfrm>
            <a:off x="1143000" y="5532120"/>
            <a:ext cx="1767992"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mn-lt" pitchFamily="34" charset="0"/>
                <a:ea typeface="+mn-lt" pitchFamily="34" charset="-122"/>
                <a:cs typeface="+mn-lt" pitchFamily="34" charset="-120"/>
              </a:rPr>
              <a:t>This session</a:t>
            </a:r>
            <a:endParaRPr lang="en-US" sz="1200" dirty="0"/>
          </a:p>
        </p:txBody>
      </p:sp>
      <p:sp>
        <p:nvSpPr>
          <p:cNvPr id="11" name="Node 2"/>
          <p:cNvSpPr/>
          <p:nvPr/>
        </p:nvSpPr>
        <p:spPr>
          <a:xfrm>
            <a:off x="4593260" y="2459736"/>
            <a:ext cx="292608" cy="292608"/>
          </a:xfrm>
          <a:prstGeom prst="ellipse">
            <a:avLst/>
          </a:prstGeom>
          <a:solidFill>
            <a:schemeClr val="tx1"/>
          </a:solidFill>
          <a:ln w="19050">
            <a:solidFill>
              <a:schemeClr val="accent1"/>
            </a:solidFill>
            <a:prstDash val="solid"/>
          </a:ln>
        </p:spPr>
      </p:sp>
      <p:sp>
        <p:nvSpPr>
          <p:cNvPr id="12" name="Phase card 2"/>
          <p:cNvSpPr/>
          <p:nvPr/>
        </p:nvSpPr>
        <p:spPr>
          <a:xfrm>
            <a:off x="3535528" y="3154680"/>
            <a:ext cx="2408072" cy="2971800"/>
          </a:xfrm>
          <a:prstGeom prst="rect">
            <a:avLst/>
          </a:prstGeom>
          <a:solidFill>
            <a:schemeClr val="accent5"/>
          </a:solidFill>
          <a:ln w="12700">
            <a:solidFill>
              <a:schemeClr val="accent5"/>
            </a:solidFill>
            <a:prstDash val="solid"/>
          </a:ln>
        </p:spPr>
      </p:sp>
      <p:sp>
        <p:nvSpPr>
          <p:cNvPr id="13" name="Eyebrow: Phase 2"/>
          <p:cNvSpPr txBox="1"/>
          <p:nvPr/>
        </p:nvSpPr>
        <p:spPr>
          <a:xfrm>
            <a:off x="3855568" y="3474720"/>
            <a:ext cx="1767992"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PHASE 2</a:t>
            </a:r>
            <a:endParaRPr lang="en-US" sz="1200" dirty="0"/>
          </a:p>
        </p:txBody>
      </p:sp>
      <p:sp>
        <p:nvSpPr>
          <p:cNvPr id="14" name="Phase title Plan"/>
          <p:cNvSpPr txBox="1"/>
          <p:nvPr/>
        </p:nvSpPr>
        <p:spPr>
          <a:xfrm>
            <a:off x="3855568" y="3822192"/>
            <a:ext cx="1767992" cy="45720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Plan</a:t>
            </a:r>
            <a:endParaRPr lang="en-US" sz="2200" dirty="0"/>
          </a:p>
        </p:txBody>
      </p:sp>
      <p:sp>
        <p:nvSpPr>
          <p:cNvPr id="15" name="Phase body Plan"/>
          <p:cNvSpPr txBox="1"/>
          <p:nvPr/>
        </p:nvSpPr>
        <p:spPr>
          <a:xfrm>
            <a:off x="3855568" y="4297680"/>
            <a:ext cx="1767992" cy="12344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A concrete, costed plan per pillar with owners and KPIs</a:t>
            </a:r>
            <a:endParaRPr lang="en-US" sz="1400" dirty="0"/>
          </a:p>
        </p:txBody>
      </p:sp>
      <p:sp>
        <p:nvSpPr>
          <p:cNvPr id="16" name="Phase timing Plan"/>
          <p:cNvSpPr txBox="1"/>
          <p:nvPr/>
        </p:nvSpPr>
        <p:spPr>
          <a:xfrm>
            <a:off x="3855568" y="5532120"/>
            <a:ext cx="1767992" cy="274320"/>
          </a:xfrm>
          <a:prstGeom prst="rect">
            <a:avLst/>
          </a:prstGeom>
          <a:noFill/>
          <a:ln/>
        </p:spPr>
        <p:txBody>
          <a:bodyPr wrap="square" lIns="0" tIns="0" rIns="0" bIns="0" rtlCol="0" anchor="t"/>
          <a:lstStyle/>
          <a:p>
            <a:pPr indent="0" marL="0">
              <a:buNone/>
            </a:pPr>
            <a:r>
              <a:rPr lang="en-US" sz="1200" spc="150" kern="0" dirty="0">
                <a:solidFill>
                  <a:schemeClr val="accent4"/>
                </a:solidFill>
                <a:latin typeface="+mn-lt" pitchFamily="34" charset="0"/>
                <a:ea typeface="+mn-lt" pitchFamily="34" charset="-122"/>
                <a:cs typeface="+mn-lt" pitchFamily="34" charset="-120"/>
              </a:rPr>
              <a:t>[__ weeks]</a:t>
            </a:r>
            <a:endParaRPr lang="en-US" sz="1200" dirty="0"/>
          </a:p>
        </p:txBody>
      </p:sp>
      <p:sp>
        <p:nvSpPr>
          <p:cNvPr id="17" name="Node 3"/>
          <p:cNvSpPr/>
          <p:nvPr/>
        </p:nvSpPr>
        <p:spPr>
          <a:xfrm>
            <a:off x="7250963" y="2404872"/>
            <a:ext cx="402336" cy="402336"/>
          </a:xfrm>
          <a:prstGeom prst="ellipse">
            <a:avLst/>
          </a:prstGeom>
          <a:solidFill>
            <a:schemeClr val="tx1"/>
          </a:solidFill>
          <a:ln w="19050">
            <a:solidFill>
              <a:schemeClr val="accent1"/>
            </a:solidFill>
            <a:prstDash val="solid"/>
          </a:ln>
        </p:spPr>
      </p:sp>
      <p:sp>
        <p:nvSpPr>
          <p:cNvPr id="18" name="Phase card 3"/>
          <p:cNvSpPr/>
          <p:nvPr/>
        </p:nvSpPr>
        <p:spPr>
          <a:xfrm>
            <a:off x="6248095" y="3154680"/>
            <a:ext cx="2408072" cy="2971800"/>
          </a:xfrm>
          <a:prstGeom prst="rect">
            <a:avLst/>
          </a:prstGeom>
          <a:solidFill>
            <a:schemeClr val="accent5"/>
          </a:solidFill>
          <a:ln w="12700">
            <a:solidFill>
              <a:schemeClr val="accent5"/>
            </a:solidFill>
            <a:prstDash val="solid"/>
          </a:ln>
        </p:spPr>
      </p:sp>
      <p:sp>
        <p:nvSpPr>
          <p:cNvPr id="19" name="Eyebrow: Phase 3"/>
          <p:cNvSpPr txBox="1"/>
          <p:nvPr/>
        </p:nvSpPr>
        <p:spPr>
          <a:xfrm>
            <a:off x="6568135" y="3474720"/>
            <a:ext cx="1767992"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PHASE 3</a:t>
            </a:r>
            <a:endParaRPr lang="en-US" sz="1200" dirty="0"/>
          </a:p>
        </p:txBody>
      </p:sp>
      <p:sp>
        <p:nvSpPr>
          <p:cNvPr id="20" name="Phase title Execute"/>
          <p:cNvSpPr txBox="1"/>
          <p:nvPr/>
        </p:nvSpPr>
        <p:spPr>
          <a:xfrm>
            <a:off x="6568135" y="3822192"/>
            <a:ext cx="1767992" cy="45720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Execute</a:t>
            </a:r>
            <a:endParaRPr lang="en-US" sz="2200" dirty="0"/>
          </a:p>
        </p:txBody>
      </p:sp>
      <p:sp>
        <p:nvSpPr>
          <p:cNvPr id="21" name="Phase body Execute"/>
          <p:cNvSpPr txBox="1"/>
          <p:nvPr/>
        </p:nvSpPr>
        <p:spPr>
          <a:xfrm>
            <a:off x="6568135" y="4297680"/>
            <a:ext cx="1767992" cy="12344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Quick wins on Al Shami first, then pilots for new concepts</a:t>
            </a:r>
            <a:endParaRPr lang="en-US" sz="1400" dirty="0"/>
          </a:p>
        </p:txBody>
      </p:sp>
      <p:sp>
        <p:nvSpPr>
          <p:cNvPr id="22" name="Phase timing Execute"/>
          <p:cNvSpPr txBox="1"/>
          <p:nvPr/>
        </p:nvSpPr>
        <p:spPr>
          <a:xfrm>
            <a:off x="6568135" y="5532120"/>
            <a:ext cx="1767992" cy="274320"/>
          </a:xfrm>
          <a:prstGeom prst="rect">
            <a:avLst/>
          </a:prstGeom>
          <a:noFill/>
          <a:ln/>
        </p:spPr>
        <p:txBody>
          <a:bodyPr wrap="square" lIns="0" tIns="0" rIns="0" bIns="0" rtlCol="0" anchor="t"/>
          <a:lstStyle/>
          <a:p>
            <a:pPr indent="0" marL="0">
              <a:buNone/>
            </a:pPr>
            <a:r>
              <a:rPr lang="en-US" sz="1200" spc="150" kern="0" dirty="0">
                <a:solidFill>
                  <a:schemeClr val="accent4"/>
                </a:solidFill>
                <a:latin typeface="+mn-lt" pitchFamily="34" charset="0"/>
                <a:ea typeface="+mn-lt" pitchFamily="34" charset="-122"/>
                <a:cs typeface="+mn-lt" pitchFamily="34" charset="-120"/>
              </a:rPr>
              <a:t>[__ months]</a:t>
            </a:r>
            <a:endParaRPr lang="en-US" sz="1200" dirty="0"/>
          </a:p>
        </p:txBody>
      </p:sp>
      <p:sp>
        <p:nvSpPr>
          <p:cNvPr id="23" name="Node 4"/>
          <p:cNvSpPr/>
          <p:nvPr/>
        </p:nvSpPr>
        <p:spPr>
          <a:xfrm>
            <a:off x="9908667" y="2350008"/>
            <a:ext cx="512064" cy="512064"/>
          </a:xfrm>
          <a:prstGeom prst="ellipse">
            <a:avLst/>
          </a:prstGeom>
          <a:solidFill>
            <a:schemeClr val="tx1"/>
          </a:solidFill>
          <a:ln w="19050">
            <a:solidFill>
              <a:schemeClr val="accent1"/>
            </a:solidFill>
            <a:prstDash val="solid"/>
          </a:ln>
        </p:spPr>
      </p:sp>
      <p:sp>
        <p:nvSpPr>
          <p:cNvPr id="24" name="Phase card 4"/>
          <p:cNvSpPr/>
          <p:nvPr/>
        </p:nvSpPr>
        <p:spPr>
          <a:xfrm>
            <a:off x="8960663" y="3154680"/>
            <a:ext cx="2408072" cy="2971800"/>
          </a:xfrm>
          <a:prstGeom prst="rect">
            <a:avLst/>
          </a:prstGeom>
          <a:solidFill>
            <a:schemeClr val="accent5"/>
          </a:solidFill>
          <a:ln w="12700">
            <a:solidFill>
              <a:schemeClr val="accent5"/>
            </a:solidFill>
            <a:prstDash val="solid"/>
          </a:ln>
        </p:spPr>
      </p:sp>
      <p:sp>
        <p:nvSpPr>
          <p:cNvPr id="25" name="Eyebrow: Phase 4"/>
          <p:cNvSpPr txBox="1"/>
          <p:nvPr/>
        </p:nvSpPr>
        <p:spPr>
          <a:xfrm>
            <a:off x="9280703" y="3474720"/>
            <a:ext cx="1767992"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PHASE 4</a:t>
            </a:r>
            <a:endParaRPr lang="en-US" sz="1200" dirty="0"/>
          </a:p>
        </p:txBody>
      </p:sp>
      <p:sp>
        <p:nvSpPr>
          <p:cNvPr id="26" name="Phase title Scale"/>
          <p:cNvSpPr txBox="1"/>
          <p:nvPr/>
        </p:nvSpPr>
        <p:spPr>
          <a:xfrm>
            <a:off x="9280703" y="3822192"/>
            <a:ext cx="1767992" cy="45720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Scale</a:t>
            </a:r>
            <a:endParaRPr lang="en-US" sz="2200" dirty="0"/>
          </a:p>
        </p:txBody>
      </p:sp>
      <p:sp>
        <p:nvSpPr>
          <p:cNvPr id="27" name="Phase body Scale"/>
          <p:cNvSpPr txBox="1"/>
          <p:nvPr/>
        </p:nvSpPr>
        <p:spPr>
          <a:xfrm>
            <a:off x="9280703" y="4297680"/>
            <a:ext cx="1767992" cy="1234440"/>
          </a:xfrm>
          <a:prstGeom prst="rect">
            <a:avLst/>
          </a:prstGeom>
          <a:noFill/>
          <a:ln/>
        </p:spPr>
        <p:txBody>
          <a:bodyPr wrap="square" lIns="0" tIns="0" rIns="0" bIns="0" rtlCol="0" anchor="t"/>
          <a:lstStyle/>
          <a:p>
            <a:pPr indent="0" marL="0">
              <a:lnSpc>
                <a:spcPct val="125000"/>
              </a:lnSpc>
              <a:buNone/>
            </a:pPr>
            <a:r>
              <a:rPr lang="en-US" sz="1400" dirty="0">
                <a:solidFill>
                  <a:schemeClr val="accent4"/>
                </a:solidFill>
                <a:latin typeface="+mn-lt" pitchFamily="34" charset="0"/>
                <a:ea typeface="+mn-lt" pitchFamily="34" charset="-122"/>
                <a:cs typeface="+mn-lt" pitchFamily="34" charset="-120"/>
              </a:rPr>
              <a:t>Regional roll-out, hospitality pipeline and governance in place</a:t>
            </a:r>
            <a:endParaRPr lang="en-US" sz="1400" dirty="0"/>
          </a:p>
        </p:txBody>
      </p:sp>
      <p:sp>
        <p:nvSpPr>
          <p:cNvPr id="28" name="Phase timing Scale"/>
          <p:cNvSpPr txBox="1"/>
          <p:nvPr/>
        </p:nvSpPr>
        <p:spPr>
          <a:xfrm>
            <a:off x="9280703" y="5532120"/>
            <a:ext cx="1767992" cy="274320"/>
          </a:xfrm>
          <a:prstGeom prst="rect">
            <a:avLst/>
          </a:prstGeom>
          <a:noFill/>
          <a:ln/>
        </p:spPr>
        <p:txBody>
          <a:bodyPr wrap="square" lIns="0" tIns="0" rIns="0" bIns="0" rtlCol="0" anchor="t"/>
          <a:lstStyle/>
          <a:p>
            <a:pPr indent="0" marL="0">
              <a:buNone/>
            </a:pPr>
            <a:r>
              <a:rPr lang="en-US" sz="1200" spc="150" kern="0" dirty="0">
                <a:solidFill>
                  <a:schemeClr val="accent4"/>
                </a:solidFill>
                <a:latin typeface="+mn-lt" pitchFamily="34" charset="0"/>
                <a:ea typeface="+mn-lt" pitchFamily="34" charset="-122"/>
                <a:cs typeface="+mn-lt" pitchFamily="34" charset="-120"/>
              </a:rPr>
              <a:t>[__ years]</a:t>
            </a:r>
            <a:endParaRPr lang="en-US" sz="1200" dirty="0"/>
          </a:p>
        </p:txBody>
      </p:sp>
      <p:sp>
        <p:nvSpPr>
          <p:cNvPr id="29"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4"/>
                </a:solidFill>
                <a:latin typeface="+mn-lt" pitchFamily="34" charset="0"/>
                <a:ea typeface="+mn-lt" pitchFamily="34" charset="-122"/>
                <a:cs typeface="+mn-lt" pitchFamily="34" charset="-120"/>
              </a:rPr>
              <a:t>The Master Plan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Decisions"/>
          <p:cNvSpPr txBox="1"/>
          <p:nvPr/>
        </p:nvSpPr>
        <p:spPr>
          <a:xfrm>
            <a:off x="822960" y="777240"/>
            <a:ext cx="10545775" cy="274320"/>
          </a:xfrm>
          <a:prstGeom prst="rect">
            <a:avLst/>
          </a:prstGeom>
          <a:noFill/>
          <a:ln/>
        </p:spPr>
        <p:txBody>
          <a:bodyPr wrap="square" lIns="0" tIns="0" rIns="0" bIns="0" rtlCol="0" anchor="t"/>
          <a:lstStyle/>
          <a:p>
            <a:pPr indent="0" marL="0">
              <a:buNone/>
            </a:pPr>
            <a:r>
              <a:rPr lang="en-US" sz="1200" spc="250" kern="0" dirty="0">
                <a:solidFill>
                  <a:schemeClr val="accent2"/>
                </a:solidFill>
                <a:latin typeface="+mn-lt" pitchFamily="34" charset="0"/>
                <a:ea typeface="+mn-lt" pitchFamily="34" charset="-122"/>
                <a:cs typeface="+mn-lt" pitchFamily="34" charset="-120"/>
              </a:rPr>
              <a:t>DECISIONS</a:t>
            </a:r>
            <a:endParaRPr lang="en-US" sz="1200" dirty="0"/>
          </a:p>
        </p:txBody>
      </p:sp>
      <p:sp>
        <p:nvSpPr>
          <p:cNvPr id="3" name="Title"/>
          <p:cNvSpPr txBox="1"/>
          <p:nvPr/>
        </p:nvSpPr>
        <p:spPr>
          <a:xfrm>
            <a:off x="822960" y="1051560"/>
            <a:ext cx="10545775" cy="731520"/>
          </a:xfrm>
          <a:prstGeom prst="rect">
            <a:avLst/>
          </a:prstGeom>
          <a:noFill/>
          <a:ln/>
        </p:spPr>
        <p:txBody>
          <a:bodyPr wrap="square" lIns="0" tIns="0" rIns="0" bIns="0" rtlCol="0" anchor="t"/>
          <a:lstStyle/>
          <a:p>
            <a:pPr indent="0" marL="0">
              <a:buNone/>
            </a:pPr>
            <a:r>
              <a:rPr lang="en-US" sz="4000" dirty="0">
                <a:solidFill>
                  <a:schemeClr val="tx1"/>
                </a:solidFill>
                <a:latin typeface="+mj-lt" pitchFamily="34" charset="0"/>
                <a:ea typeface="+mj-lt" pitchFamily="34" charset="-122"/>
                <a:cs typeface="+mj-lt" pitchFamily="34" charset="-120"/>
              </a:rPr>
              <a:t>What we need to agree today</a:t>
            </a:r>
            <a:endParaRPr lang="en-US" sz="4000" dirty="0"/>
          </a:p>
        </p:txBody>
      </p:sp>
      <p:sp>
        <p:nvSpPr>
          <p:cNvPr id="4" name="Hairline"/>
          <p:cNvSpPr/>
          <p:nvPr/>
        </p:nvSpPr>
        <p:spPr>
          <a:xfrm>
            <a:off x="822960" y="2148840"/>
            <a:ext cx="10545775" cy="0"/>
          </a:xfrm>
          <a:prstGeom prst="line">
            <a:avLst/>
          </a:prstGeom>
          <a:noFill/>
          <a:ln w="9525">
            <a:solidFill>
              <a:schemeClr val="accent6"/>
            </a:solidFill>
            <a:prstDash val="solid"/>
          </a:ln>
        </p:spPr>
      </p:sp>
      <p:sp>
        <p:nvSpPr>
          <p:cNvPr id="5" name="Decision number 1"/>
          <p:cNvSpPr txBox="1"/>
          <p:nvPr/>
        </p:nvSpPr>
        <p:spPr>
          <a:xfrm>
            <a:off x="822960" y="2240280"/>
            <a:ext cx="914400"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01</a:t>
            </a:r>
            <a:endParaRPr lang="en-US" sz="3200" dirty="0"/>
          </a:p>
        </p:txBody>
      </p:sp>
      <p:sp>
        <p:nvSpPr>
          <p:cNvPr id="6" name="Decision 1"/>
          <p:cNvSpPr txBox="1"/>
          <p:nvPr/>
        </p:nvSpPr>
        <p:spPr>
          <a:xfrm>
            <a:off x="1828800" y="2368296"/>
            <a:ext cx="9539935" cy="457200"/>
          </a:xfrm>
          <a:prstGeom prst="rect">
            <a:avLst/>
          </a:prstGeom>
          <a:noFill/>
          <a:ln/>
        </p:spPr>
        <p:txBody>
          <a:bodyPr wrap="square" lIns="0" tIns="0" rIns="0" bIns="0" rtlCol="0" anchor="t"/>
          <a:lstStyle/>
          <a:p>
            <a:pPr indent="0" marL="0">
              <a:buNone/>
            </a:pPr>
            <a:r>
              <a:rPr lang="en-US" sz="2000" dirty="0">
                <a:solidFill>
                  <a:schemeClr val="tx1"/>
                </a:solidFill>
                <a:latin typeface="+mn-lt" pitchFamily="34" charset="0"/>
                <a:ea typeface="+mn-lt" pitchFamily="34" charset="-122"/>
                <a:cs typeface="+mn-lt" pitchFamily="34" charset="-120"/>
              </a:rPr>
              <a:t>Confirm the ambition and the four pillars</a:t>
            </a:r>
            <a:endParaRPr lang="en-US" sz="2000" dirty="0"/>
          </a:p>
        </p:txBody>
      </p:sp>
      <p:sp>
        <p:nvSpPr>
          <p:cNvPr id="7" name="Hairline"/>
          <p:cNvSpPr/>
          <p:nvPr/>
        </p:nvSpPr>
        <p:spPr>
          <a:xfrm>
            <a:off x="822960" y="2916936"/>
            <a:ext cx="10545775" cy="0"/>
          </a:xfrm>
          <a:prstGeom prst="line">
            <a:avLst/>
          </a:prstGeom>
          <a:noFill/>
          <a:ln w="9525">
            <a:solidFill>
              <a:schemeClr val="accent6"/>
            </a:solidFill>
            <a:prstDash val="solid"/>
          </a:ln>
        </p:spPr>
      </p:sp>
      <p:sp>
        <p:nvSpPr>
          <p:cNvPr id="8" name="Decision number 2"/>
          <p:cNvSpPr txBox="1"/>
          <p:nvPr/>
        </p:nvSpPr>
        <p:spPr>
          <a:xfrm>
            <a:off x="822960" y="3008376"/>
            <a:ext cx="914400"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02</a:t>
            </a:r>
            <a:endParaRPr lang="en-US" sz="3200" dirty="0"/>
          </a:p>
        </p:txBody>
      </p:sp>
      <p:sp>
        <p:nvSpPr>
          <p:cNvPr id="9" name="Decision 2"/>
          <p:cNvSpPr txBox="1"/>
          <p:nvPr/>
        </p:nvSpPr>
        <p:spPr>
          <a:xfrm>
            <a:off x="1828800" y="3136392"/>
            <a:ext cx="9539935" cy="457200"/>
          </a:xfrm>
          <a:prstGeom prst="rect">
            <a:avLst/>
          </a:prstGeom>
          <a:noFill/>
          <a:ln/>
        </p:spPr>
        <p:txBody>
          <a:bodyPr wrap="square" lIns="0" tIns="0" rIns="0" bIns="0" rtlCol="0" anchor="t"/>
          <a:lstStyle/>
          <a:p>
            <a:pPr indent="0" marL="0">
              <a:buNone/>
            </a:pPr>
            <a:r>
              <a:rPr lang="en-US" sz="2000" dirty="0">
                <a:solidFill>
                  <a:schemeClr val="tx1"/>
                </a:solidFill>
                <a:latin typeface="+mn-lt" pitchFamily="34" charset="0"/>
                <a:ea typeface="+mn-lt" pitchFamily="34" charset="-122"/>
                <a:cs typeface="+mn-lt" pitchFamily="34" charset="-120"/>
              </a:rPr>
              <a:t>Agree priorities and sequencing across the pillars</a:t>
            </a:r>
            <a:endParaRPr lang="en-US" sz="2000" dirty="0"/>
          </a:p>
        </p:txBody>
      </p:sp>
      <p:sp>
        <p:nvSpPr>
          <p:cNvPr id="10" name="Hairline"/>
          <p:cNvSpPr/>
          <p:nvPr/>
        </p:nvSpPr>
        <p:spPr>
          <a:xfrm>
            <a:off x="822960" y="3685032"/>
            <a:ext cx="10545775" cy="0"/>
          </a:xfrm>
          <a:prstGeom prst="line">
            <a:avLst/>
          </a:prstGeom>
          <a:noFill/>
          <a:ln w="9525">
            <a:solidFill>
              <a:schemeClr val="accent6"/>
            </a:solidFill>
            <a:prstDash val="solid"/>
          </a:ln>
        </p:spPr>
      </p:sp>
      <p:sp>
        <p:nvSpPr>
          <p:cNvPr id="11" name="Decision number 3"/>
          <p:cNvSpPr txBox="1"/>
          <p:nvPr/>
        </p:nvSpPr>
        <p:spPr>
          <a:xfrm>
            <a:off x="822960" y="3776472"/>
            <a:ext cx="914400"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03</a:t>
            </a:r>
            <a:endParaRPr lang="en-US" sz="3200" dirty="0"/>
          </a:p>
        </p:txBody>
      </p:sp>
      <p:sp>
        <p:nvSpPr>
          <p:cNvPr id="12" name="Decision 3"/>
          <p:cNvSpPr txBox="1"/>
          <p:nvPr/>
        </p:nvSpPr>
        <p:spPr>
          <a:xfrm>
            <a:off x="1828800" y="3904488"/>
            <a:ext cx="9539935" cy="457200"/>
          </a:xfrm>
          <a:prstGeom prst="rect">
            <a:avLst/>
          </a:prstGeom>
          <a:noFill/>
          <a:ln/>
        </p:spPr>
        <p:txBody>
          <a:bodyPr wrap="square" lIns="0" tIns="0" rIns="0" bIns="0" rtlCol="0" anchor="t"/>
          <a:lstStyle/>
          <a:p>
            <a:pPr indent="0" marL="0">
              <a:buNone/>
            </a:pPr>
            <a:r>
              <a:rPr lang="en-US" sz="2000" dirty="0">
                <a:solidFill>
                  <a:schemeClr val="tx1"/>
                </a:solidFill>
                <a:latin typeface="+mn-lt" pitchFamily="34" charset="0"/>
                <a:ea typeface="+mn-lt" pitchFamily="34" charset="-122"/>
                <a:cs typeface="+mn-lt" pitchFamily="34" charset="-120"/>
              </a:rPr>
              <a:t>Name the decision makers and a project lead on your side</a:t>
            </a:r>
            <a:endParaRPr lang="en-US" sz="2000" dirty="0"/>
          </a:p>
        </p:txBody>
      </p:sp>
      <p:sp>
        <p:nvSpPr>
          <p:cNvPr id="13" name="Hairline"/>
          <p:cNvSpPr/>
          <p:nvPr/>
        </p:nvSpPr>
        <p:spPr>
          <a:xfrm>
            <a:off x="822960" y="4453128"/>
            <a:ext cx="10545775" cy="0"/>
          </a:xfrm>
          <a:prstGeom prst="line">
            <a:avLst/>
          </a:prstGeom>
          <a:noFill/>
          <a:ln w="9525">
            <a:solidFill>
              <a:schemeClr val="accent6"/>
            </a:solidFill>
            <a:prstDash val="solid"/>
          </a:ln>
        </p:spPr>
      </p:sp>
      <p:sp>
        <p:nvSpPr>
          <p:cNvPr id="14" name="Decision number 4"/>
          <p:cNvSpPr txBox="1"/>
          <p:nvPr/>
        </p:nvSpPr>
        <p:spPr>
          <a:xfrm>
            <a:off x="822960" y="4544568"/>
            <a:ext cx="914400"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04</a:t>
            </a:r>
            <a:endParaRPr lang="en-US" sz="3200" dirty="0"/>
          </a:p>
        </p:txBody>
      </p:sp>
      <p:sp>
        <p:nvSpPr>
          <p:cNvPr id="15" name="Decision 4"/>
          <p:cNvSpPr txBox="1"/>
          <p:nvPr/>
        </p:nvSpPr>
        <p:spPr>
          <a:xfrm>
            <a:off x="1828800" y="4672584"/>
            <a:ext cx="9539935" cy="457200"/>
          </a:xfrm>
          <a:prstGeom prst="rect">
            <a:avLst/>
          </a:prstGeom>
          <a:noFill/>
          <a:ln/>
        </p:spPr>
        <p:txBody>
          <a:bodyPr wrap="square" lIns="0" tIns="0" rIns="0" bIns="0" rtlCol="0" anchor="t"/>
          <a:lstStyle/>
          <a:p>
            <a:pPr indent="0" marL="0">
              <a:buNone/>
            </a:pPr>
            <a:r>
              <a:rPr lang="en-US" sz="2000" dirty="0">
                <a:solidFill>
                  <a:schemeClr val="tx1"/>
                </a:solidFill>
                <a:latin typeface="+mn-lt" pitchFamily="34" charset="0"/>
                <a:ea typeface="+mn-lt" pitchFamily="34" charset="-122"/>
                <a:cs typeface="+mn-lt" pitchFamily="34" charset="-120"/>
              </a:rPr>
              <a:t>Share the data: sales, costs, sites and current plans</a:t>
            </a:r>
            <a:endParaRPr lang="en-US" sz="2000" dirty="0"/>
          </a:p>
        </p:txBody>
      </p:sp>
      <p:sp>
        <p:nvSpPr>
          <p:cNvPr id="16" name="Hairline"/>
          <p:cNvSpPr/>
          <p:nvPr/>
        </p:nvSpPr>
        <p:spPr>
          <a:xfrm>
            <a:off x="822960" y="5221224"/>
            <a:ext cx="10545775" cy="0"/>
          </a:xfrm>
          <a:prstGeom prst="line">
            <a:avLst/>
          </a:prstGeom>
          <a:noFill/>
          <a:ln w="9525">
            <a:solidFill>
              <a:schemeClr val="accent6"/>
            </a:solidFill>
            <a:prstDash val="solid"/>
          </a:ln>
        </p:spPr>
      </p:sp>
      <p:sp>
        <p:nvSpPr>
          <p:cNvPr id="17" name="Decision number 5"/>
          <p:cNvSpPr txBox="1"/>
          <p:nvPr/>
        </p:nvSpPr>
        <p:spPr>
          <a:xfrm>
            <a:off x="822960" y="5312664"/>
            <a:ext cx="914400"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05</a:t>
            </a:r>
            <a:endParaRPr lang="en-US" sz="3200" dirty="0"/>
          </a:p>
        </p:txBody>
      </p:sp>
      <p:sp>
        <p:nvSpPr>
          <p:cNvPr id="18" name="Decision 5"/>
          <p:cNvSpPr txBox="1"/>
          <p:nvPr/>
        </p:nvSpPr>
        <p:spPr>
          <a:xfrm>
            <a:off x="1828800" y="5440680"/>
            <a:ext cx="9539935" cy="457200"/>
          </a:xfrm>
          <a:prstGeom prst="rect">
            <a:avLst/>
          </a:prstGeom>
          <a:noFill/>
          <a:ln/>
        </p:spPr>
        <p:txBody>
          <a:bodyPr wrap="square" lIns="0" tIns="0" rIns="0" bIns="0" rtlCol="0" anchor="t"/>
          <a:lstStyle/>
          <a:p>
            <a:pPr indent="0" marL="0">
              <a:buNone/>
            </a:pPr>
            <a:r>
              <a:rPr lang="en-US" sz="2000" dirty="0">
                <a:solidFill>
                  <a:schemeClr val="tx1"/>
                </a:solidFill>
                <a:latin typeface="+mn-lt" pitchFamily="34" charset="0"/>
                <a:ea typeface="+mn-lt" pitchFamily="34" charset="-122"/>
                <a:cs typeface="+mn-lt" pitchFamily="34" charset="-120"/>
              </a:rPr>
              <a:t>Lock dates for the planning workshops</a:t>
            </a:r>
            <a:endParaRPr lang="en-US" sz="2000" dirty="0"/>
          </a:p>
        </p:txBody>
      </p:sp>
      <p:sp>
        <p:nvSpPr>
          <p:cNvPr id="19" name="Hairline"/>
          <p:cNvSpPr/>
          <p:nvPr/>
        </p:nvSpPr>
        <p:spPr>
          <a:xfrm>
            <a:off x="822960" y="5989320"/>
            <a:ext cx="10545775" cy="0"/>
          </a:xfrm>
          <a:prstGeom prst="line">
            <a:avLst/>
          </a:prstGeom>
          <a:noFill/>
          <a:ln w="9525">
            <a:solidFill>
              <a:schemeClr val="accent6"/>
            </a:solidFill>
            <a:prstDash val="solid"/>
          </a:ln>
        </p:spPr>
      </p:sp>
      <p:sp>
        <p:nvSpPr>
          <p:cNvPr id="20" name="Footer"/>
          <p:cNvSpPr txBox="1"/>
          <p:nvPr/>
        </p:nvSpPr>
        <p:spPr>
          <a:xfrm>
            <a:off x="822960" y="6382512"/>
            <a:ext cx="3657600" cy="27432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The Master Plan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hoto 12-close" descr="Steam rising from a coffee cup">    </p:cNvPr>
          <p:cNvPicPr>
            <a:picLocks noChangeAspect="1"/>
          </p:cNvPicPr>
          <p:nvPr/>
        </p:nvPicPr>
        <p:blipFill>
          <a:blip r:embed="rId1"/>
          <a:srcRect l="0" r="0" t="0" b="0"/>
          <a:stretch/>
        </p:blipFill>
        <p:spPr>
          <a:xfrm>
            <a:off x="0" y="0"/>
            <a:ext cx="12191695" cy="6858000"/>
          </a:xfrm>
          <a:prstGeom prst="rect">
            <a:avLst/>
          </a:prstGeom>
        </p:spPr>
      </p:pic>
      <p:pic>
        <p:nvPicPr>
          <p:cNvPr id="3" name="Scrim scrim_close" descr="Gradient scrim">    </p:cNvPr>
          <p:cNvPicPr>
            <a:picLocks noChangeAspect="1"/>
          </p:cNvPicPr>
          <p:nvPr/>
        </p:nvPicPr>
        <p:blipFill>
          <a:blip r:embed="rId2"/>
          <a:stretch>
            <a:fillRect/>
          </a:stretch>
        </p:blipFill>
        <p:spPr>
          <a:xfrm>
            <a:off x="0" y="0"/>
            <a:ext cx="12191695" cy="6858000"/>
          </a:xfrm>
          <a:prstGeom prst="rect">
            <a:avLst/>
          </a:prstGeom>
        </p:spPr>
      </p:pic>
      <p:sp>
        <p:nvSpPr>
          <p:cNvPr id="4" name="Photo slot label 12-close"/>
          <p:cNvSpPr txBox="1"/>
          <p:nvPr/>
        </p:nvSpPr>
        <p:spPr>
          <a:xfrm>
            <a:off x="228600" y="274320"/>
            <a:ext cx="11734495" cy="548640"/>
          </a:xfrm>
          <a:prstGeom prst="rect">
            <a:avLst/>
          </a:prstGeom>
          <a:noFill/>
          <a:ln/>
        </p:spPr>
        <p:txBody>
          <a:bodyPr wrap="square" lIns="0" tIns="0" rIns="0" bIns="0" rtlCol="0" anchor="t"/>
          <a:lstStyle/>
          <a:p>
            <a:pPr algn="r" indent="0" marL="0">
              <a:buNone/>
            </a:pPr>
            <a:r>
              <a:rPr lang="en-US" sz="900" spc="150" kern="0" dirty="0">
                <a:solidFill>
                  <a:schemeClr val="accent4"/>
                </a:solidFill>
                <a:latin typeface="+mn-lt" pitchFamily="34" charset="0"/>
                <a:ea typeface="+mn-lt" pitchFamily="34" charset="-122"/>
                <a:cs typeface="+mn-lt" pitchFamily="34" charset="-120"/>
              </a:rPr>
              <a:t>PHOTO SLOT 12-CLOSE : STEAM RISING FROM A COFFEE CUP</a:t>
            </a:r>
            <a:endParaRPr lang="en-US" sz="900" dirty="0"/>
          </a:p>
        </p:txBody>
      </p:sp>
      <p:sp>
        <p:nvSpPr>
          <p:cNvPr id="5" name="Eyebrow: Thank you"/>
          <p:cNvSpPr txBox="1"/>
          <p:nvPr/>
        </p:nvSpPr>
        <p:spPr>
          <a:xfrm>
            <a:off x="822960" y="2194560"/>
            <a:ext cx="10545775" cy="274320"/>
          </a:xfrm>
          <a:prstGeom prst="rect">
            <a:avLst/>
          </a:prstGeom>
          <a:noFill/>
          <a:ln/>
        </p:spPr>
        <p:txBody>
          <a:bodyPr wrap="square" lIns="0" tIns="0" rIns="0" bIns="0" rtlCol="0" anchor="t"/>
          <a:lstStyle/>
          <a:p>
            <a:pPr indent="0" marL="0">
              <a:buNone/>
            </a:pPr>
            <a:r>
              <a:rPr lang="en-US" sz="1200" spc="250" kern="0" dirty="0">
                <a:solidFill>
                  <a:schemeClr val="accent1"/>
                </a:solidFill>
                <a:latin typeface="+mn-lt" pitchFamily="34" charset="0"/>
                <a:ea typeface="+mn-lt" pitchFamily="34" charset="-122"/>
                <a:cs typeface="+mn-lt" pitchFamily="34" charset="-120"/>
              </a:rPr>
              <a:t>THANK YOU</a:t>
            </a:r>
            <a:endParaRPr lang="en-US" sz="1200" dirty="0"/>
          </a:p>
        </p:txBody>
      </p:sp>
      <p:sp>
        <p:nvSpPr>
          <p:cNvPr id="6" name="Statement"/>
          <p:cNvSpPr txBox="1"/>
          <p:nvPr/>
        </p:nvSpPr>
        <p:spPr>
          <a:xfrm>
            <a:off x="822960" y="2560320"/>
            <a:ext cx="8778240" cy="1828800"/>
          </a:xfrm>
          <a:prstGeom prst="rect">
            <a:avLst/>
          </a:prstGeom>
          <a:noFill/>
          <a:ln/>
        </p:spPr>
        <p:txBody>
          <a:bodyPr wrap="square" lIns="0" tIns="0" rIns="0" bIns="0" rtlCol="0" anchor="t"/>
          <a:lstStyle/>
          <a:p>
            <a:pPr indent="0" marL="0">
              <a:lnSpc>
                <a:spcPct val="105000"/>
              </a:lnSpc>
              <a:buNone/>
            </a:pPr>
            <a:r>
              <a:rPr lang="en-US" sz="4400" dirty="0">
                <a:solidFill>
                  <a:schemeClr val="bg1"/>
                </a:solidFill>
                <a:latin typeface="+mj-lt" pitchFamily="34" charset="0"/>
                <a:ea typeface="+mj-lt" pitchFamily="34" charset="-122"/>
                <a:cs typeface="+mj-lt" pitchFamily="34" charset="-120"/>
              </a:rPr>
              <a:t>Let’s build the next century of Al Shami, together.</a:t>
            </a:r>
            <a:endParaRPr lang="en-US" sz="4400" dirty="0"/>
          </a:p>
        </p:txBody>
      </p:sp>
      <p:sp>
        <p:nvSpPr>
          <p:cNvPr id="7" name="Contact"/>
          <p:cNvSpPr txBox="1"/>
          <p:nvPr/>
        </p:nvSpPr>
        <p:spPr>
          <a:xfrm>
            <a:off x="822960" y="4892040"/>
            <a:ext cx="7315200" cy="320040"/>
          </a:xfrm>
          <a:prstGeom prst="rect">
            <a:avLst/>
          </a:prstGeom>
          <a:noFill/>
          <a:ln/>
        </p:spPr>
        <p:txBody>
          <a:bodyPr wrap="square" lIns="0" tIns="0" rIns="0" bIns="0" rtlCol="0" anchor="t"/>
          <a:lstStyle/>
          <a:p>
            <a:pPr indent="0" marL="0">
              <a:buNone/>
            </a:pPr>
            <a:r>
              <a:rPr lang="en-US" sz="1500" spc="100" kern="0" dirty="0">
                <a:solidFill>
                  <a:schemeClr val="accent4"/>
                </a:solidFill>
                <a:latin typeface="+mn-lt" pitchFamily="34" charset="0"/>
                <a:ea typeface="+mn-lt" pitchFamily="34" charset="-122"/>
                <a:cs typeface="+mn-lt" pitchFamily="34" charset="-120"/>
              </a:rPr>
              <a:t>[Consultant name] · [email] · [phone]</a:t>
            </a:r>
            <a:endParaRPr lang="en-US" sz="1500" dirty="0"/>
          </a:p>
        </p:txBody>
      </p:sp>
    </p:spTree>
  </p:cSld>
  <p:clrMapOvr>
    <a:masterClrMapping/>
  </p:clrMapOvr>
</p:sld>
</file>

<file path=ppt/theme/theme1.xml><?xml version="1.0" encoding="utf-8"?>
<a:theme xmlns:a="http://schemas.openxmlformats.org/drawingml/2006/main" name="Al Shami Master Plan">
  <a:themeElements>
    <a:clrScheme name="Al Shami Master Plan">
      <a:dk1>
        <a:srgbClr val="1F1612"/>
      </a:dk1>
      <a:lt1>
        <a:srgbClr val="F6F0E6"/>
      </a:lt1>
      <a:dk2>
        <a:srgbClr val="2E3A2B"/>
      </a:dk2>
      <a:lt2>
        <a:srgbClr val="EDE3D3"/>
      </a:lt2>
      <a:accent1>
        <a:srgbClr val="C99A5B"/>
      </a:accent1>
      <a:accent2>
        <a:srgbClr val="8A5A2B"/>
      </a:accent2>
      <a:accent3>
        <a:srgbClr val="5A4A3F"/>
      </a:accent3>
      <a:accent4>
        <a:srgbClr val="D9CBB6"/>
      </a:accent4>
      <a:accent5>
        <a:srgbClr val="2A201A"/>
      </a:accent5>
      <a:accent6>
        <a:srgbClr val="D8CBB8"/>
      </a:accent6>
      <a:hlink>
        <a:srgbClr val="8A5A2B"/>
      </a:hlink>
      <a:folHlink>
        <a:srgbClr val="5A4A3F"/>
      </a:folHlink>
    </a:clrScheme>
    <a:fontScheme name="Al Shami Master Plan">
      <a:majorFont>
        <a:latin typeface="Cormorant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Master Plan - Al Shami</dc:title>
  <dc:subject>Strategy alignment session</dc:subject>
  <dc:creator>[Consultant name]</dc:creator>
  <cp:lastModifiedBy>[Consultant name]</cp:lastModifiedBy>
  <cp:revision>1</cp:revision>
  <dcterms:created xsi:type="dcterms:W3CDTF">2026-10-24T10:33:40Z</dcterms:created>
  <dcterms:modified xsi:type="dcterms:W3CDTF">2026-10-24T10:33:40Z</dcterms:modified>
</cp:coreProperties>
</file>